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autoCompressPictures="0">
  <p:sldMasterIdLst>
    <p:sldMasterId id="2147483648" r:id="rId4"/>
  </p:sldMasterIdLst>
  <p:notesMasterIdLst>
    <p:notesMasterId r:id="rId15"/>
  </p:notesMasterIdLst>
  <p:handoutMasterIdLst>
    <p:handoutMasterId r:id="rId16"/>
  </p:handoutMasterIdLst>
  <p:sldIdLst>
    <p:sldId id="256" r:id="rId5"/>
    <p:sldId id="277" r:id="rId6"/>
    <p:sldId id="278" r:id="rId7"/>
    <p:sldId id="279" r:id="rId8"/>
    <p:sldId id="280" r:id="rId9"/>
    <p:sldId id="281" r:id="rId10"/>
    <p:sldId id="282" r:id="rId11"/>
    <p:sldId id="283" r:id="rId12"/>
    <p:sldId id="286" r:id="rId13"/>
    <p:sldId id="285" r:id="rId14"/>
  </p:sldIdLst>
  <p:sldSz cx="12192000" cy="6858000"/>
  <p:notesSz cx="6858000" cy="9144000"/>
  <p:defaultTextStyle>
    <a:defPPr rtl="0">
      <a:defRPr lang="tr-tr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4" autoAdjust="0"/>
    <p:restoredTop sz="92932" autoAdjust="0"/>
  </p:normalViewPr>
  <p:slideViewPr>
    <p:cSldViewPr snapToGrid="0">
      <p:cViewPr varScale="1">
        <p:scale>
          <a:sx n="100" d="100"/>
          <a:sy n="100" d="100"/>
        </p:scale>
        <p:origin x="96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8" d="100"/>
          <a:sy n="88" d="100"/>
        </p:scale>
        <p:origin x="3072" y="7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 Bilgi Yer Tutucus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tr-TR" dirty="0"/>
          </a:p>
        </p:txBody>
      </p:sp>
      <p:sp>
        <p:nvSpPr>
          <p:cNvPr id="3" name="Tarih Yer Tutucusu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3AD0F65C-58C1-4A0C-9A70-9D6397237E0B}" type="datetime1">
              <a:rPr lang="tr-TR" smtClean="0"/>
              <a:t>22.06.2026</a:t>
            </a:fld>
            <a:endParaRPr lang="tr-TR" dirty="0"/>
          </a:p>
        </p:txBody>
      </p:sp>
      <p:sp>
        <p:nvSpPr>
          <p:cNvPr id="4" name="Alt Bilgi Yer Tutucusu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tr-TR" dirty="0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FB53ADFC-ABB8-401A-BB24-33FDAFEDCEBD}" type="slidenum">
              <a:rPr lang="tr-TR" smtClean="0"/>
              <a:t>‹#›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73324930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 Bilgi Yer Tutucus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tr-TR" noProof="0" dirty="0"/>
          </a:p>
        </p:txBody>
      </p:sp>
      <p:sp>
        <p:nvSpPr>
          <p:cNvPr id="3" name="Tarih Yer Tutucusu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45A1C90E-4B38-48D9-9ADB-1EEED4C580D5}" type="datetime1">
              <a:rPr lang="tr-TR" noProof="0" smtClean="0"/>
              <a:t>22.06.2026</a:t>
            </a:fld>
            <a:endParaRPr lang="tr-TR" noProof="0" dirty="0"/>
          </a:p>
        </p:txBody>
      </p:sp>
      <p:sp>
        <p:nvSpPr>
          <p:cNvPr id="4" name="Slayt Görüntüsü Yer Tutucus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tr-TR" noProof="0" dirty="0"/>
          </a:p>
        </p:txBody>
      </p:sp>
      <p:sp>
        <p:nvSpPr>
          <p:cNvPr id="5" name="Notlar Yer Tutucusu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tr-TR" noProof="0" dirty="0"/>
              <a:t>Asıl metin stillerini düzenlemek için tıklayın</a:t>
            </a:r>
          </a:p>
          <a:p>
            <a:pPr lvl="1" rtl="0"/>
            <a:r>
              <a:rPr lang="tr-TR" noProof="0" dirty="0"/>
              <a:t>İkinci düzey</a:t>
            </a:r>
          </a:p>
          <a:p>
            <a:pPr lvl="2" rtl="0"/>
            <a:r>
              <a:rPr lang="tr-TR" noProof="0" dirty="0"/>
              <a:t>Üçüncü düzey</a:t>
            </a:r>
          </a:p>
          <a:p>
            <a:pPr lvl="3" rtl="0"/>
            <a:r>
              <a:rPr lang="tr-TR" noProof="0" dirty="0"/>
              <a:t>Dördüncü düzey</a:t>
            </a:r>
          </a:p>
          <a:p>
            <a:pPr lvl="4" rtl="0"/>
            <a:r>
              <a:rPr lang="tr-TR" noProof="0" dirty="0"/>
              <a:t>Beşinci düzey</a:t>
            </a:r>
          </a:p>
        </p:txBody>
      </p:sp>
      <p:sp>
        <p:nvSpPr>
          <p:cNvPr id="6" name="Alt Bilgi Yer Tutucusu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tr-TR" noProof="0" dirty="0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4B725628-3A68-42F4-BA86-981817953149}" type="slidenum">
              <a:rPr lang="tr-TR" noProof="0" smtClean="0"/>
              <a:t>‹#›</a:t>
            </a:fld>
            <a:endParaRPr lang="tr-TR" noProof="0" dirty="0"/>
          </a:p>
        </p:txBody>
      </p:sp>
    </p:spTree>
    <p:extLst>
      <p:ext uri="{BB962C8B-B14F-4D97-AF65-F5344CB8AC3E}">
        <p14:creationId xmlns:p14="http://schemas.microsoft.com/office/powerpoint/2010/main" val="64925861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lar Yer Tutucusu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4B725628-3A68-42F4-BA86-981817953149}" type="slidenum">
              <a:rPr lang="tr-TR" smtClean="0"/>
              <a:t>1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8592577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lar Yer Tutucusu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4B725628-3A68-42F4-BA86-981817953149}" type="slidenum">
              <a:rPr lang="tr-TR" smtClean="0"/>
              <a:t>2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9598457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ikdörtgen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Başlık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rtlCol="0" anchor="ctr">
            <a:normAutofit/>
          </a:bodyPr>
          <a:lstStyle>
            <a:lvl1pPr algn="r">
              <a:defRPr sz="5000" spc="200" baseline="0"/>
            </a:lvl1pPr>
          </a:lstStyle>
          <a:p>
            <a:pPr rtl="0"/>
            <a:r>
              <a:rPr lang="tr-TR" noProof="0"/>
              <a:t>Asıl başlık stili için tıklatın</a:t>
            </a:r>
            <a:endParaRPr lang="tr-TR" noProof="0" dirty="0"/>
          </a:p>
        </p:txBody>
      </p:sp>
      <p:sp>
        <p:nvSpPr>
          <p:cNvPr id="3" name="Alt Başlık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rtlCol="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pPr rtl="0"/>
            <a:r>
              <a:rPr lang="tr-TR" noProof="0"/>
              <a:t>Asıl alt başlık stilini düzenlemek için tıklayın</a:t>
            </a:r>
            <a:endParaRPr lang="tr-TR" noProof="0" dirty="0"/>
          </a:p>
        </p:txBody>
      </p:sp>
      <p:sp>
        <p:nvSpPr>
          <p:cNvPr id="4" name="Tarih Yer Tutucusu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algn="l">
              <a:defRPr/>
            </a:lvl1pPr>
          </a:lstStyle>
          <a:p>
            <a:pPr rtl="0"/>
            <a:fld id="{98DA42E9-8AC5-494B-9B81-48B259A718E2}" type="datetime1">
              <a:rPr lang="tr-TR" noProof="0" smtClean="0"/>
              <a:t>22.06.2026</a:t>
            </a:fld>
            <a:endParaRPr lang="tr-TR" noProof="0" dirty="0"/>
          </a:p>
        </p:txBody>
      </p:sp>
      <p:sp>
        <p:nvSpPr>
          <p:cNvPr id="5" name="Alt Bilgi Yer Tutucusu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tr-TR" noProof="0" dirty="0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tr-TR" noProof="0" smtClean="0"/>
              <a:t>‹#›</a:t>
            </a:fld>
            <a:endParaRPr lang="tr-TR" noProof="0" dirty="0"/>
          </a:p>
        </p:txBody>
      </p:sp>
      <p:cxnSp>
        <p:nvCxnSpPr>
          <p:cNvPr id="8" name="Düz Bağlayıcı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noProof="0"/>
              <a:t>Asıl başlık stili için tıklatın</a:t>
            </a:r>
            <a:endParaRPr lang="tr-TR" noProof="0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tr-TR" noProof="0"/>
              <a:t>Asıl metin stillerini düzenle</a:t>
            </a:r>
          </a:p>
          <a:p>
            <a:pPr lvl="1" rtl="0"/>
            <a:r>
              <a:rPr lang="tr-TR" noProof="0"/>
              <a:t>İkinci düzey</a:t>
            </a:r>
          </a:p>
          <a:p>
            <a:pPr lvl="2" rtl="0"/>
            <a:r>
              <a:rPr lang="tr-TR" noProof="0"/>
              <a:t>Üçüncü düzey</a:t>
            </a:r>
          </a:p>
          <a:p>
            <a:pPr lvl="3" rtl="0"/>
            <a:r>
              <a:rPr lang="tr-TR" noProof="0"/>
              <a:t>Dördüncü düzey</a:t>
            </a:r>
          </a:p>
          <a:p>
            <a:pPr lvl="4" rtl="0"/>
            <a:r>
              <a:rPr lang="tr-TR" noProof="0"/>
              <a:t>Beşinci düzey</a:t>
            </a:r>
            <a:endParaRPr lang="tr-TR" noProof="0" dirty="0"/>
          </a:p>
        </p:txBody>
      </p:sp>
      <p:sp>
        <p:nvSpPr>
          <p:cNvPr id="4" name="Tarih Yer Tutucusu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8E75D30-A2CB-4E9E-B8F1-7F7F646B827E}" type="datetime1">
              <a:rPr lang="tr-TR" noProof="0" smtClean="0"/>
              <a:t>22.06.2026</a:t>
            </a:fld>
            <a:endParaRPr lang="tr-TR" noProof="0" dirty="0"/>
          </a:p>
        </p:txBody>
      </p:sp>
      <p:sp>
        <p:nvSpPr>
          <p:cNvPr id="5" name="Alt Bilgi Yer Tutucusu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tr-TR" noProof="0" dirty="0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tr-TR" noProof="0" smtClean="0"/>
              <a:t>‹#›</a:t>
            </a:fld>
            <a:endParaRPr lang="tr-TR" noProof="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Bölüm Başlığ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ikdörtgen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rtlCol="0" anchor="ctr">
            <a:normAutofit/>
          </a:bodyPr>
          <a:lstStyle>
            <a:lvl1pPr algn="r">
              <a:defRPr sz="5000" b="0" spc="200" baseline="0"/>
            </a:lvl1pPr>
          </a:lstStyle>
          <a:p>
            <a:pPr rtl="0"/>
            <a:r>
              <a:rPr lang="tr-TR" noProof="0"/>
              <a:t>Asıl başlık stili için tıklatın</a:t>
            </a:r>
            <a:endParaRPr lang="tr-TR" noProof="0" dirty="0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rtlCol="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tr-TR" noProof="0"/>
              <a:t>Asıl metin stillerini düzenle</a:t>
            </a:r>
          </a:p>
        </p:txBody>
      </p:sp>
      <p:sp>
        <p:nvSpPr>
          <p:cNvPr id="4" name="Tarih Yer Tutucusu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C8503C7-0366-4312-9865-F1F5C415C5D5}" type="datetime1">
              <a:rPr lang="tr-TR" noProof="0" smtClean="0"/>
              <a:t>22.06.2026</a:t>
            </a:fld>
            <a:endParaRPr lang="tr-TR" noProof="0" dirty="0"/>
          </a:p>
        </p:txBody>
      </p:sp>
      <p:sp>
        <p:nvSpPr>
          <p:cNvPr id="5" name="Alt Bilgi Yer Tutucusu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tr-TR" noProof="0" dirty="0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tr-TR" noProof="0" smtClean="0"/>
              <a:t>‹#›</a:t>
            </a:fld>
            <a:endParaRPr lang="tr-TR" noProof="0" dirty="0"/>
          </a:p>
        </p:txBody>
      </p:sp>
      <p:cxnSp>
        <p:nvCxnSpPr>
          <p:cNvPr id="8" name="Düz Bağlayıcı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 rtlCol="0"/>
          <a:lstStyle/>
          <a:p>
            <a:pPr rtl="0"/>
            <a:r>
              <a:rPr lang="tr-TR" noProof="0"/>
              <a:t>Asıl başlık stili için tıklatın</a:t>
            </a:r>
            <a:endParaRPr lang="tr-TR" noProof="0" dirty="0"/>
          </a:p>
        </p:txBody>
      </p:sp>
      <p:sp>
        <p:nvSpPr>
          <p:cNvPr id="3" name="İçerik Yer Tutucusu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 rtlCol="0"/>
          <a:lstStyle/>
          <a:p>
            <a:pPr lvl="0" rtl="0"/>
            <a:r>
              <a:rPr lang="tr-TR" noProof="0"/>
              <a:t>Asıl metin stillerini düzenle</a:t>
            </a:r>
          </a:p>
          <a:p>
            <a:pPr lvl="1" rtl="0"/>
            <a:r>
              <a:rPr lang="tr-TR" noProof="0"/>
              <a:t>İkinci düzey</a:t>
            </a:r>
          </a:p>
          <a:p>
            <a:pPr lvl="2" rtl="0"/>
            <a:r>
              <a:rPr lang="tr-TR" noProof="0"/>
              <a:t>Üçüncü düzey</a:t>
            </a:r>
          </a:p>
          <a:p>
            <a:pPr lvl="3" rtl="0"/>
            <a:r>
              <a:rPr lang="tr-TR" noProof="0"/>
              <a:t>Dördüncü düzey</a:t>
            </a:r>
          </a:p>
          <a:p>
            <a:pPr lvl="4" rtl="0"/>
            <a:r>
              <a:rPr lang="tr-TR" noProof="0"/>
              <a:t>Beşinci düzey</a:t>
            </a:r>
            <a:endParaRPr lang="tr-TR" noProof="0" dirty="0"/>
          </a:p>
        </p:txBody>
      </p:sp>
      <p:sp>
        <p:nvSpPr>
          <p:cNvPr id="4" name="İçerik Yer Tutucusu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 rtlCol="0"/>
          <a:lstStyle/>
          <a:p>
            <a:pPr lvl="0" rtl="0"/>
            <a:r>
              <a:rPr lang="tr-TR" noProof="0"/>
              <a:t>Asıl metin stillerini düzenle</a:t>
            </a:r>
          </a:p>
          <a:p>
            <a:pPr lvl="1" rtl="0"/>
            <a:r>
              <a:rPr lang="tr-TR" noProof="0"/>
              <a:t>İkinci düzey</a:t>
            </a:r>
          </a:p>
          <a:p>
            <a:pPr lvl="2" rtl="0"/>
            <a:r>
              <a:rPr lang="tr-TR" noProof="0"/>
              <a:t>Üçüncü düzey</a:t>
            </a:r>
          </a:p>
          <a:p>
            <a:pPr lvl="3" rtl="0"/>
            <a:r>
              <a:rPr lang="tr-TR" noProof="0"/>
              <a:t>Dördüncü düzey</a:t>
            </a:r>
          </a:p>
          <a:p>
            <a:pPr lvl="4" rtl="0"/>
            <a:r>
              <a:rPr lang="tr-TR" noProof="0"/>
              <a:t>Beşinci düzey</a:t>
            </a:r>
            <a:endParaRPr lang="tr-TR" noProof="0" dirty="0"/>
          </a:p>
        </p:txBody>
      </p:sp>
      <p:sp>
        <p:nvSpPr>
          <p:cNvPr id="5" name="Tarih Yer Tutucusu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94E29BD-453F-4E5B-BD83-B3707D4BB540}" type="datetime1">
              <a:rPr lang="tr-TR" noProof="0" smtClean="0"/>
              <a:t>22.06.2026</a:t>
            </a:fld>
            <a:endParaRPr lang="tr-TR" noProof="0" dirty="0"/>
          </a:p>
        </p:txBody>
      </p:sp>
      <p:sp>
        <p:nvSpPr>
          <p:cNvPr id="6" name="Alt Bilgi Yer Tutucusu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tr-TR" noProof="0" dirty="0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tr-TR" noProof="0" smtClean="0"/>
              <a:t>‹#›</a:t>
            </a:fld>
            <a:endParaRPr lang="tr-TR" noProof="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aşlık 9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noProof="0"/>
              <a:t>Asıl başlık stili için tıklatın</a:t>
            </a:r>
            <a:endParaRPr lang="tr-TR" noProof="0" dirty="0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rtlCol="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Calibri" panose="020F05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tr-TR" noProof="0"/>
              <a:t>Asıl metin stillerini düzenle</a:t>
            </a:r>
          </a:p>
        </p:txBody>
      </p:sp>
      <p:sp>
        <p:nvSpPr>
          <p:cNvPr id="4" name="İçerik Yer Tutucusu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 rtlCol="0"/>
          <a:lstStyle/>
          <a:p>
            <a:pPr lvl="0" rtl="0"/>
            <a:r>
              <a:rPr lang="tr-TR" noProof="0"/>
              <a:t>Asıl metin stillerini düzenle</a:t>
            </a:r>
          </a:p>
          <a:p>
            <a:pPr lvl="1" rtl="0"/>
            <a:r>
              <a:rPr lang="tr-TR" noProof="0"/>
              <a:t>İkinci düzey</a:t>
            </a:r>
          </a:p>
          <a:p>
            <a:pPr lvl="2" rtl="0"/>
            <a:r>
              <a:rPr lang="tr-TR" noProof="0"/>
              <a:t>Üçüncü düzey</a:t>
            </a:r>
          </a:p>
          <a:p>
            <a:pPr lvl="3" rtl="0"/>
            <a:r>
              <a:rPr lang="tr-TR" noProof="0"/>
              <a:t>Dördüncü düzey</a:t>
            </a:r>
          </a:p>
          <a:p>
            <a:pPr lvl="4" rtl="0"/>
            <a:r>
              <a:rPr lang="tr-TR" noProof="0"/>
              <a:t>Beşinci düzey</a:t>
            </a:r>
            <a:endParaRPr lang="tr-TR" noProof="0" dirty="0"/>
          </a:p>
        </p:txBody>
      </p:sp>
      <p:sp>
        <p:nvSpPr>
          <p:cNvPr id="5" name="Metin Yer Tutucusu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rtlCol="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Calibri" panose="020F0502020204030204" pitchFamily="34" charset="0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tr-TR" noProof="0"/>
              <a:t>Asıl metin stillerini düzenle</a:t>
            </a:r>
          </a:p>
        </p:txBody>
      </p:sp>
      <p:sp>
        <p:nvSpPr>
          <p:cNvPr id="6" name="İçerik Yer Tutucusu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 rtlCol="0"/>
          <a:lstStyle/>
          <a:p>
            <a:pPr lvl="0" rtl="0"/>
            <a:r>
              <a:rPr lang="tr-TR" noProof="0"/>
              <a:t>Asıl metin stillerini düzenle</a:t>
            </a:r>
          </a:p>
          <a:p>
            <a:pPr lvl="1" rtl="0"/>
            <a:r>
              <a:rPr lang="tr-TR" noProof="0"/>
              <a:t>İkinci düzey</a:t>
            </a:r>
          </a:p>
          <a:p>
            <a:pPr lvl="2" rtl="0"/>
            <a:r>
              <a:rPr lang="tr-TR" noProof="0"/>
              <a:t>Üçüncü düzey</a:t>
            </a:r>
          </a:p>
          <a:p>
            <a:pPr lvl="3" rtl="0"/>
            <a:r>
              <a:rPr lang="tr-TR" noProof="0"/>
              <a:t>Dördüncü düzey</a:t>
            </a:r>
          </a:p>
          <a:p>
            <a:pPr lvl="4" rtl="0"/>
            <a:r>
              <a:rPr lang="tr-TR" noProof="0"/>
              <a:t>Beşinci düzey</a:t>
            </a:r>
            <a:endParaRPr lang="tr-TR" noProof="0" dirty="0"/>
          </a:p>
        </p:txBody>
      </p:sp>
      <p:sp>
        <p:nvSpPr>
          <p:cNvPr id="7" name="Tarih Yer Tutucusu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0644985-CE54-4AF4-9C9C-801F0B8CD3E8}" type="datetime1">
              <a:rPr lang="tr-TR" noProof="0" smtClean="0"/>
              <a:t>22.06.2026</a:t>
            </a:fld>
            <a:endParaRPr lang="tr-TR" noProof="0" dirty="0"/>
          </a:p>
        </p:txBody>
      </p:sp>
      <p:sp>
        <p:nvSpPr>
          <p:cNvPr id="8" name="Alt Bilgi Yer Tutucusu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tr-TR" noProof="0" dirty="0"/>
          </a:p>
        </p:txBody>
      </p:sp>
      <p:sp>
        <p:nvSpPr>
          <p:cNvPr id="9" name="Slayt Numarası Yer Tutucusu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tr-TR" noProof="0" smtClean="0"/>
              <a:t>‹#›</a:t>
            </a:fld>
            <a:endParaRPr lang="tr-TR" noProof="0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noProof="0"/>
              <a:t>Asıl başlık stili için tıklatın</a:t>
            </a:r>
            <a:endParaRPr lang="tr-TR" noProof="0" dirty="0"/>
          </a:p>
        </p:txBody>
      </p:sp>
      <p:sp>
        <p:nvSpPr>
          <p:cNvPr id="3" name="Tarih Yer Tutucusu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0D33A27-D69E-47F0-868D-6CB18AD33318}" type="datetime1">
              <a:rPr lang="tr-TR" noProof="0" smtClean="0"/>
              <a:t>22.06.2026</a:t>
            </a:fld>
            <a:endParaRPr lang="tr-TR" noProof="0" dirty="0"/>
          </a:p>
        </p:txBody>
      </p:sp>
      <p:sp>
        <p:nvSpPr>
          <p:cNvPr id="4" name="Alt Bilgi Yer Tutucusu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tr-TR" noProof="0" dirty="0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tr-TR" noProof="0" smtClean="0"/>
              <a:t>‹#›</a:t>
            </a:fld>
            <a:endParaRPr lang="tr-TR" noProof="0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rih Yer Tutucusu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51FBC9D-59D2-4339-976D-FD603253275B}" type="datetime1">
              <a:rPr lang="tr-TR" noProof="0" smtClean="0"/>
              <a:t>22.06.2026</a:t>
            </a:fld>
            <a:endParaRPr lang="tr-TR" noProof="0" dirty="0"/>
          </a:p>
        </p:txBody>
      </p:sp>
      <p:sp>
        <p:nvSpPr>
          <p:cNvPr id="3" name="Alt Bilgi Yer Tutucusu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tr-TR" noProof="0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tr-TR" noProof="0" smtClean="0"/>
              <a:t>‹#›</a:t>
            </a:fld>
            <a:endParaRPr lang="tr-TR" noProof="0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Resim Yazı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aşlık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 rtlCol="0"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pPr rtl="0"/>
            <a:r>
              <a:rPr lang="tr-TR" noProof="0"/>
              <a:t>Asıl başlık stili için tıklatın</a:t>
            </a:r>
            <a:endParaRPr lang="tr-TR" noProof="0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 rtlCol="0"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rtl="0"/>
            <a:r>
              <a:rPr lang="tr-TR" noProof="0"/>
              <a:t>Asıl metin stillerini düzenle</a:t>
            </a:r>
          </a:p>
          <a:p>
            <a:pPr lvl="1" rtl="0"/>
            <a:r>
              <a:rPr lang="tr-TR" noProof="0"/>
              <a:t>İkinci düzey</a:t>
            </a:r>
          </a:p>
          <a:p>
            <a:pPr lvl="2" rtl="0"/>
            <a:r>
              <a:rPr lang="tr-TR" noProof="0"/>
              <a:t>Üçüncü düzey</a:t>
            </a:r>
          </a:p>
          <a:p>
            <a:pPr lvl="3" rtl="0"/>
            <a:r>
              <a:rPr lang="tr-TR" noProof="0"/>
              <a:t>Dördüncü düzey</a:t>
            </a:r>
          </a:p>
          <a:p>
            <a:pPr lvl="4" rtl="0"/>
            <a:r>
              <a:rPr lang="tr-TR" noProof="0"/>
              <a:t>Beşinci düzey</a:t>
            </a:r>
            <a:endParaRPr lang="tr-TR" noProof="0" dirty="0"/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 rtlCol="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tr-TR" noProof="0"/>
              <a:t>Asıl metin stillerini düzenle</a:t>
            </a:r>
          </a:p>
        </p:txBody>
      </p:sp>
      <p:sp>
        <p:nvSpPr>
          <p:cNvPr id="5" name="Tarih Yer Tutucusu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1AA5F42-14ED-4A61-BB34-730D94D62CEE}" type="datetime1">
              <a:rPr lang="tr-TR" noProof="0" smtClean="0"/>
              <a:t>22.06.2026</a:t>
            </a:fld>
            <a:endParaRPr lang="tr-TR" noProof="0" dirty="0"/>
          </a:p>
        </p:txBody>
      </p:sp>
      <p:sp>
        <p:nvSpPr>
          <p:cNvPr id="6" name="Alt Bilgi Yer Tutucusu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tr-TR" noProof="0" dirty="0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tr-TR" noProof="0" smtClean="0"/>
              <a:t>‹#›</a:t>
            </a:fld>
            <a:endParaRPr lang="tr-TR" noProof="0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Resim Yazı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rtlCol="0" anchor="ctr">
            <a:normAutofit/>
          </a:bodyPr>
          <a:lstStyle>
            <a:lvl1pPr algn="r">
              <a:defRPr sz="5000" spc="200" baseline="0"/>
            </a:lvl1pPr>
          </a:lstStyle>
          <a:p>
            <a:pPr rtl="0"/>
            <a:r>
              <a:rPr lang="tr-TR" noProof="0"/>
              <a:t>Asıl başlık stili için tıklatın</a:t>
            </a:r>
            <a:endParaRPr lang="tr-TR" noProof="0" dirty="0"/>
          </a:p>
        </p:txBody>
      </p:sp>
      <p:sp>
        <p:nvSpPr>
          <p:cNvPr id="3" name="Resim Yer Tutucusu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rtlCol="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tr-TR" noProof="0"/>
              <a:t>Resim eklemek için simgeyi tıklatın</a:t>
            </a:r>
            <a:endParaRPr lang="tr-TR" noProof="0" dirty="0"/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rtlCol="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tr-TR" noProof="0"/>
              <a:t>Asıl metin stillerini düzenle</a:t>
            </a:r>
          </a:p>
        </p:txBody>
      </p:sp>
      <p:sp>
        <p:nvSpPr>
          <p:cNvPr id="5" name="Tarih Yer Tutucusu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0EC1C2E-42BF-4A4A-AA0A-C5009833FAE9}" type="datetime1">
              <a:rPr lang="tr-TR" noProof="0" smtClean="0"/>
              <a:t>22.06.2026</a:t>
            </a:fld>
            <a:endParaRPr lang="tr-TR" noProof="0" dirty="0"/>
          </a:p>
        </p:txBody>
      </p:sp>
      <p:sp>
        <p:nvSpPr>
          <p:cNvPr id="6" name="Alt Bilgi Yer Tutucusu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tr-TR" noProof="0" dirty="0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67E5644-1E61-4311-A31E-84CB9C7AA8A9}" type="slidenum">
              <a:rPr lang="tr-TR" noProof="0" smtClean="0"/>
              <a:t>‹#›</a:t>
            </a:fld>
            <a:endParaRPr lang="tr-TR" noProof="0" dirty="0"/>
          </a:p>
        </p:txBody>
      </p:sp>
      <p:cxnSp>
        <p:nvCxnSpPr>
          <p:cNvPr id="8" name="Düz Bağlayıcı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noProof="0"/>
              <a:t>Asıl başlık stili için tıklatın</a:t>
            </a:r>
            <a:endParaRPr lang="tr-TR" noProof="0" dirty="0"/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/>
          <a:p>
            <a:pPr lvl="0" rtl="0"/>
            <a:r>
              <a:rPr lang="tr-TR" noProof="0"/>
              <a:t>Asıl metin stillerini düzenle</a:t>
            </a:r>
          </a:p>
          <a:p>
            <a:pPr lvl="1" rtl="0"/>
            <a:r>
              <a:rPr lang="tr-TR" noProof="0"/>
              <a:t>İkinci düzey</a:t>
            </a:r>
          </a:p>
          <a:p>
            <a:pPr lvl="2" rtl="0"/>
            <a:r>
              <a:rPr lang="tr-TR" noProof="0"/>
              <a:t>Üçüncü düzey</a:t>
            </a:r>
          </a:p>
          <a:p>
            <a:pPr lvl="3" rtl="0"/>
            <a:r>
              <a:rPr lang="tr-TR" noProof="0"/>
              <a:t>Dördüncü düzey</a:t>
            </a:r>
          </a:p>
          <a:p>
            <a:pPr lvl="4" rtl="0"/>
            <a:r>
              <a:rPr lang="tr-TR" noProof="0"/>
              <a:t>Beşinci düzey</a:t>
            </a:r>
            <a:endParaRPr lang="tr-TR" noProof="0" dirty="0"/>
          </a:p>
        </p:txBody>
      </p:sp>
      <p:sp>
        <p:nvSpPr>
          <p:cNvPr id="4" name="Tarih Yer Tutucusu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58DD160-7AC4-4988-897E-E9C29ED6ADFC}" type="datetime1">
              <a:rPr lang="tr-TR" noProof="0" smtClean="0"/>
              <a:t>22.06.2026</a:t>
            </a:fld>
            <a:endParaRPr lang="tr-TR" noProof="0" dirty="0"/>
          </a:p>
        </p:txBody>
      </p:sp>
      <p:sp>
        <p:nvSpPr>
          <p:cNvPr id="5" name="Alt Bilgi Yer Tutucusu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tr-TR" noProof="0" dirty="0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tr-TR" noProof="0" smtClean="0"/>
              <a:t>‹#›</a:t>
            </a:fld>
            <a:endParaRPr lang="tr-TR" noProof="0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 rtlCol="0"/>
          <a:lstStyle/>
          <a:p>
            <a:pPr rtl="0"/>
            <a:r>
              <a:rPr lang="tr-TR" noProof="0"/>
              <a:t>Asıl başlık stili için tıklatın</a:t>
            </a:r>
            <a:endParaRPr lang="tr-TR" noProof="0" dirty="0"/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 rtlCol="0"/>
          <a:lstStyle/>
          <a:p>
            <a:pPr lvl="0" rtl="0"/>
            <a:r>
              <a:rPr lang="tr-TR" noProof="0"/>
              <a:t>Asıl metin stillerini düzenle</a:t>
            </a:r>
          </a:p>
          <a:p>
            <a:pPr lvl="1" rtl="0"/>
            <a:r>
              <a:rPr lang="tr-TR" noProof="0"/>
              <a:t>İkinci düzey</a:t>
            </a:r>
          </a:p>
          <a:p>
            <a:pPr lvl="2" rtl="0"/>
            <a:r>
              <a:rPr lang="tr-TR" noProof="0"/>
              <a:t>Üçüncü düzey</a:t>
            </a:r>
          </a:p>
          <a:p>
            <a:pPr lvl="3" rtl="0"/>
            <a:r>
              <a:rPr lang="tr-TR" noProof="0"/>
              <a:t>Dördüncü düzey</a:t>
            </a:r>
          </a:p>
          <a:p>
            <a:pPr lvl="4" rtl="0"/>
            <a:r>
              <a:rPr lang="tr-TR" noProof="0"/>
              <a:t>Beşinci düzey</a:t>
            </a:r>
            <a:endParaRPr lang="tr-TR" noProof="0" dirty="0"/>
          </a:p>
        </p:txBody>
      </p:sp>
      <p:sp>
        <p:nvSpPr>
          <p:cNvPr id="4" name="Tarih Yer Tutucusu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DD9ED58-0017-4E56-AA8B-8FF1ED00E3D8}" type="datetime1">
              <a:rPr lang="tr-TR" noProof="0" smtClean="0"/>
              <a:t>22.06.2026</a:t>
            </a:fld>
            <a:endParaRPr lang="tr-TR" noProof="0" dirty="0"/>
          </a:p>
        </p:txBody>
      </p:sp>
      <p:sp>
        <p:nvSpPr>
          <p:cNvPr id="5" name="Alt Bilgi Yer Tutucusu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tr-TR" noProof="0" dirty="0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tr-TR" noProof="0" smtClean="0"/>
              <a:t>‹#›</a:t>
            </a:fld>
            <a:endParaRPr lang="tr-TR" noProof="0" dirty="0"/>
          </a:p>
        </p:txBody>
      </p:sp>
      <p:cxnSp>
        <p:nvCxnSpPr>
          <p:cNvPr id="7" name="Düz Bağlayıcı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tr-TR" noProof="0" dirty="0"/>
              <a:t>Asıl başlık stilini düzenlemek için tıklayın</a:t>
            </a:r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 rtl="0"/>
            <a:r>
              <a:rPr lang="tr-TR" noProof="0" dirty="0"/>
              <a:t>Asıl metin stillerini düzenlemek için tıklayın</a:t>
            </a:r>
          </a:p>
          <a:p>
            <a:pPr lvl="1" rtl="0"/>
            <a:r>
              <a:rPr lang="tr-TR" noProof="0" dirty="0"/>
              <a:t>İkinci düzey</a:t>
            </a:r>
          </a:p>
          <a:p>
            <a:pPr lvl="2" rtl="0"/>
            <a:r>
              <a:rPr lang="tr-TR" noProof="0" dirty="0"/>
              <a:t>Üçüncü düzey</a:t>
            </a:r>
          </a:p>
          <a:p>
            <a:pPr lvl="3" rtl="0"/>
            <a:r>
              <a:rPr lang="tr-TR" noProof="0" dirty="0"/>
              <a:t>Dördüncü düzey</a:t>
            </a:r>
          </a:p>
          <a:p>
            <a:pPr lvl="4" rtl="0"/>
            <a:r>
              <a:rPr lang="tr-TR" noProof="0" dirty="0"/>
              <a:t>Beşinci düzey</a:t>
            </a:r>
          </a:p>
        </p:txBody>
      </p:sp>
      <p:sp>
        <p:nvSpPr>
          <p:cNvPr id="4" name="Tarih Yer Tutucusu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fld id="{E8E66F11-C330-4681-8E04-970B39CAB261}" type="datetime1">
              <a:rPr lang="tr-TR" noProof="0" smtClean="0"/>
              <a:t>22.06.2026</a:t>
            </a:fld>
            <a:endParaRPr lang="tr-TR" noProof="0" dirty="0"/>
          </a:p>
        </p:txBody>
      </p:sp>
      <p:sp>
        <p:nvSpPr>
          <p:cNvPr id="5" name="Alt Bilgi Yer Tutucusu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endParaRPr lang="tr-TR" noProof="0" dirty="0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fld id="{4FAB73BC-B049-4115-A692-8D63A059BFB8}" type="slidenum">
              <a:rPr lang="tr-TR" noProof="0" smtClean="0"/>
              <a:pPr/>
              <a:t>‹#›</a:t>
            </a:fld>
            <a:endParaRPr lang="tr-TR" noProof="0" dirty="0"/>
          </a:p>
        </p:txBody>
      </p:sp>
      <p:cxnSp>
        <p:nvCxnSpPr>
          <p:cNvPr id="7" name="Düz Bağlayıcı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Calibri" panose="020F0502020204030204" pitchFamily="34" charset="0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Calibri" panose="020F0502020204030204" pitchFamily="34" charset="0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Calibri" panose="020F0502020204030204" pitchFamily="34" charset="0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Calibri" panose="020F0502020204030204" pitchFamily="34" charset="0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Calibri" panose="020F0502020204030204" pitchFamily="34" charset="0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Calibri" panose="020F0502020204030204" pitchFamily="34" charset="0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Dikdörtgen 18">
            <a:extLst>
              <a:ext uri="{FF2B5EF4-FFF2-40B4-BE49-F238E27FC236}">
                <a16:creationId xmlns:a16="http://schemas.microsoft.com/office/drawing/2014/main" id="{2FDF0794-1B86-42B2-B8C7-F60123E638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74" y="0"/>
            <a:ext cx="12188726" cy="68589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tr-TR" dirty="0">
              <a:latin typeface="Calibri" panose="020F0502020204030204" pitchFamily="34" charset="0"/>
            </a:endParaRPr>
          </a:p>
        </p:txBody>
      </p:sp>
      <p:pic>
        <p:nvPicPr>
          <p:cNvPr id="5" name="Resim 4">
            <a:extLst>
              <a:ext uri="{FF2B5EF4-FFF2-40B4-BE49-F238E27FC236}">
                <a16:creationId xmlns:a16="http://schemas.microsoft.com/office/drawing/2014/main" id="{230BD1B1-AA22-48F1-B3ED-579CD28460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2444" b="-1"/>
          <a:stretch/>
        </p:blipFill>
        <p:spPr>
          <a:xfrm>
            <a:off x="20" y="975"/>
            <a:ext cx="12191980" cy="6858000"/>
          </a:xfrm>
          <a:prstGeom prst="rect">
            <a:avLst/>
          </a:prstGeom>
        </p:spPr>
      </p:pic>
      <p:sp>
        <p:nvSpPr>
          <p:cNvPr id="21" name="Dikdörtgen 20">
            <a:extLst>
              <a:ext uri="{FF2B5EF4-FFF2-40B4-BE49-F238E27FC236}">
                <a16:creationId xmlns:a16="http://schemas.microsoft.com/office/drawing/2014/main" id="{EAA48FC5-3C83-4F1B-BC33-DF0B588F8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96786" y="3064931"/>
            <a:ext cx="8295215" cy="2488568"/>
          </a:xfrm>
          <a:prstGeom prst="rect">
            <a:avLst/>
          </a:prstGeom>
          <a:solidFill>
            <a:srgbClr val="000001">
              <a:alpha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tr-TR" dirty="0">
              <a:latin typeface="Calibri" panose="020F0502020204030204" pitchFamily="34" charset="0"/>
            </a:endParaRPr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DE3D84FB-5D02-47D2-98FD-4F01A02E2A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09349" y="3429000"/>
            <a:ext cx="7501651" cy="1090938"/>
          </a:xfrm>
        </p:spPr>
        <p:txBody>
          <a:bodyPr rtlCol="0" anchor="b">
            <a:normAutofit fontScale="90000"/>
          </a:bodyPr>
          <a:lstStyle/>
          <a:p>
            <a:pPr algn="l"/>
            <a:r>
              <a:rPr lang="tr-TR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MÜŞTERİ ŞİKAYETLERİ SINIFLANDIRMA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E9F6641D-ADF3-40BD-9BA3-E740E77C88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09349" y="4779313"/>
            <a:ext cx="7501650" cy="514816"/>
          </a:xfrm>
        </p:spPr>
        <p:txBody>
          <a:bodyPr rtlCol="0" anchor="t">
            <a:noAutofit/>
          </a:bodyPr>
          <a:lstStyle/>
          <a:p>
            <a:pPr rtl="0"/>
            <a:r>
              <a:rPr lang="tr-TR" sz="2000" dirty="0">
                <a:solidFill>
                  <a:srgbClr val="FFFFFF"/>
                </a:solidFill>
              </a:rPr>
              <a:t>Aslıhan Erarslan Bilgisayar Mühendisliği 23040101020</a:t>
            </a:r>
          </a:p>
          <a:p>
            <a:pPr rtl="0"/>
            <a:r>
              <a:rPr lang="tr-TR" sz="2000" dirty="0">
                <a:solidFill>
                  <a:srgbClr val="FFFFFF"/>
                </a:solidFill>
              </a:rPr>
              <a:t>Uygulamalı Yapay Sinir Ağları</a:t>
            </a:r>
          </a:p>
        </p:txBody>
      </p:sp>
      <p:cxnSp>
        <p:nvCxnSpPr>
          <p:cNvPr id="23" name="Düz Bağlayıcı 22">
            <a:extLst>
              <a:ext uri="{FF2B5EF4-FFF2-40B4-BE49-F238E27FC236}">
                <a16:creationId xmlns:a16="http://schemas.microsoft.com/office/drawing/2014/main" id="{62F01714-1A39-4194-BD47-8A9960C599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309349" y="4666480"/>
            <a:ext cx="6832499" cy="0"/>
          </a:xfrm>
          <a:prstGeom prst="line">
            <a:avLst/>
          </a:prstGeom>
          <a:ln w="22225">
            <a:solidFill>
              <a:srgbClr val="4AC4E3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62570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7A4919D0-F177-4BBA-9A0B-DBA69E2ED7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 rtlCol="0">
            <a:normAutofit/>
          </a:bodyPr>
          <a:lstStyle/>
          <a:p>
            <a:r>
              <a:rPr lang="tr-TR" dirty="0">
                <a:solidFill>
                  <a:schemeClr val="accent2">
                    <a:lumMod val="50000"/>
                  </a:schemeClr>
                </a:solidFill>
                <a:latin typeface="Bookman Old Style" panose="02050604050505020204" pitchFamily="18" charset="0"/>
              </a:rPr>
              <a:t>Problem tanımı</a:t>
            </a:r>
          </a:p>
        </p:txBody>
      </p:sp>
      <p:sp>
        <p:nvSpPr>
          <p:cNvPr id="6" name="Rectangle 2"/>
          <p:cNvSpPr>
            <a:spLocks noGrp="1" noChangeArrowheads="1"/>
          </p:cNvSpPr>
          <p:nvPr>
            <p:ph idx="1"/>
          </p:nvPr>
        </p:nvSpPr>
        <p:spPr bwMode="auto">
          <a:xfrm>
            <a:off x="1024128" y="1900166"/>
            <a:ext cx="14724857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 Light SemiCondensed" panose="020B0502040204020203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sz="2400" dirty="0" err="1">
                <a:latin typeface="Bahnschrift Light" panose="020B0502040204020203" pitchFamily="34" charset="0"/>
              </a:rPr>
              <a:t>Vatandaşlardan</a:t>
            </a:r>
            <a:r>
              <a:rPr lang="en-US" sz="2400" dirty="0">
                <a:latin typeface="Bahnschrift Light" panose="020B0502040204020203" pitchFamily="34" charset="0"/>
              </a:rPr>
              <a:t> </a:t>
            </a:r>
            <a:r>
              <a:rPr lang="en-US" sz="2400" dirty="0" err="1">
                <a:latin typeface="Bahnschrift Light" panose="020B0502040204020203" pitchFamily="34" charset="0"/>
              </a:rPr>
              <a:t>belediyelere</a:t>
            </a:r>
            <a:r>
              <a:rPr lang="en-US" sz="2400" dirty="0">
                <a:latin typeface="Bahnschrift Light" panose="020B0502040204020203" pitchFamily="34" charset="0"/>
              </a:rPr>
              <a:t> </a:t>
            </a:r>
            <a:r>
              <a:rPr lang="en-US" sz="2400" dirty="0" err="1">
                <a:latin typeface="Bahnschrift Light" panose="020B0502040204020203" pitchFamily="34" charset="0"/>
              </a:rPr>
              <a:t>iletilen</a:t>
            </a:r>
            <a:r>
              <a:rPr lang="en-US" sz="2400" dirty="0">
                <a:latin typeface="Bahnschrift Light" panose="020B0502040204020203" pitchFamily="34" charset="0"/>
              </a:rPr>
              <a:t> </a:t>
            </a:r>
            <a:r>
              <a:rPr lang="en-US" sz="2400" dirty="0" err="1">
                <a:latin typeface="Bahnschrift Light" panose="020B0502040204020203" pitchFamily="34" charset="0"/>
              </a:rPr>
              <a:t>şikayetler</a:t>
            </a:r>
            <a:r>
              <a:rPr lang="en-US" sz="2400" dirty="0">
                <a:latin typeface="Bahnschrift Light" panose="020B0502040204020203" pitchFamily="34" charset="0"/>
              </a:rPr>
              <a:t> </a:t>
            </a:r>
            <a:r>
              <a:rPr lang="en-US" sz="2400" dirty="0" err="1">
                <a:latin typeface="Bahnschrift Light" panose="020B0502040204020203" pitchFamily="34" charset="0"/>
              </a:rPr>
              <a:t>dijital</a:t>
            </a:r>
            <a:r>
              <a:rPr lang="en-US" sz="2400" dirty="0">
                <a:latin typeface="Bahnschrift Light" panose="020B0502040204020203" pitchFamily="34" charset="0"/>
              </a:rPr>
              <a:t> </a:t>
            </a:r>
            <a:r>
              <a:rPr lang="en-US" sz="2400" dirty="0" err="1">
                <a:latin typeface="Bahnschrift Light" panose="020B0502040204020203" pitchFamily="34" charset="0"/>
              </a:rPr>
              <a:t>platformlar</a:t>
            </a:r>
            <a:r>
              <a:rPr lang="en-US" sz="2400" dirty="0">
                <a:latin typeface="Bahnschrift Light" panose="020B0502040204020203" pitchFamily="34" charset="0"/>
              </a:rPr>
              <a:t>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sz="2400" dirty="0" err="1">
                <a:latin typeface="Bahnschrift Light" panose="020B0502040204020203" pitchFamily="34" charset="0"/>
              </a:rPr>
              <a:t>üzerinden</a:t>
            </a:r>
            <a:r>
              <a:rPr lang="en-US" sz="2400" dirty="0">
                <a:latin typeface="Bahnschrift Light" panose="020B0502040204020203" pitchFamily="34" charset="0"/>
              </a:rPr>
              <a:t> </a:t>
            </a:r>
            <a:r>
              <a:rPr lang="en-US" sz="2400" dirty="0" err="1">
                <a:latin typeface="Bahnschrift Light" panose="020B0502040204020203" pitchFamily="34" charset="0"/>
              </a:rPr>
              <a:t>hızla</a:t>
            </a:r>
            <a:r>
              <a:rPr lang="en-US" sz="2400" dirty="0">
                <a:latin typeface="Bahnschrift Light" panose="020B0502040204020203" pitchFamily="34" charset="0"/>
              </a:rPr>
              <a:t> </a:t>
            </a:r>
            <a:r>
              <a:rPr lang="en-US" sz="2400" dirty="0" err="1">
                <a:latin typeface="Bahnschrift Light" panose="020B0502040204020203" pitchFamily="34" charset="0"/>
              </a:rPr>
              <a:t>artmaktadır</a:t>
            </a:r>
            <a:r>
              <a:rPr lang="en-US" sz="2400" dirty="0">
                <a:latin typeface="Bahnschrift Light" panose="020B0502040204020203" pitchFamily="34" charset="0"/>
              </a:rPr>
              <a:t>.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 </a:t>
            </a:r>
            <a:endParaRPr kumimoji="0" lang="tr-TR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 Light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 Light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Bu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verilerin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manuel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analizi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zor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ve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 zaman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alıcıdır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. </a:t>
            </a:r>
            <a:endParaRPr kumimoji="0" lang="tr-TR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 Light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 Light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Yanlış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veya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gecikmiş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yönlendirmeler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vatandaşların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memnuniyetini</a:t>
            </a:r>
            <a:endParaRPr kumimoji="0" lang="tr-TR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 Light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düşürmektedir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. </a:t>
            </a:r>
            <a:endParaRPr kumimoji="0" lang="tr-TR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 Light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 Light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Bu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nedenle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otomatik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sınıflandırma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sistemlerine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ihtiyaç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vardır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4017415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1024128" y="876161"/>
            <a:ext cx="9720072" cy="1499616"/>
          </a:xfrm>
        </p:spPr>
        <p:txBody>
          <a:bodyPr>
            <a:normAutofit fontScale="90000"/>
          </a:bodyPr>
          <a:lstStyle/>
          <a:p>
            <a:r>
              <a:rPr lang="en-US" dirty="0" err="1">
                <a:solidFill>
                  <a:schemeClr val="accent2">
                    <a:lumMod val="50000"/>
                  </a:schemeClr>
                </a:solidFill>
                <a:latin typeface="Bookman Old Style" panose="02050604050505020204" pitchFamily="18" charset="0"/>
              </a:rPr>
              <a:t>Amaç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  <a:latin typeface="Bookman Old Style" panose="02050604050505020204" pitchFamily="18" charset="0"/>
              </a:rPr>
              <a:t> </a:t>
            </a:r>
            <a:r>
              <a:rPr lang="en-US" dirty="0" err="1">
                <a:solidFill>
                  <a:schemeClr val="accent2">
                    <a:lumMod val="50000"/>
                  </a:schemeClr>
                </a:solidFill>
                <a:latin typeface="Bookman Old Style" panose="02050604050505020204" pitchFamily="18" charset="0"/>
              </a:rPr>
              <a:t>ve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  <a:latin typeface="Bookman Old Style" panose="02050604050505020204" pitchFamily="18" charset="0"/>
              </a:rPr>
              <a:t> </a:t>
            </a:r>
            <a:r>
              <a:rPr lang="en-US" dirty="0" err="1">
                <a:solidFill>
                  <a:schemeClr val="accent2">
                    <a:lumMod val="50000"/>
                  </a:schemeClr>
                </a:solidFill>
                <a:latin typeface="Bookman Old Style" panose="02050604050505020204" pitchFamily="18" charset="0"/>
              </a:rPr>
              <a:t>Kullanılan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  <a:latin typeface="Bookman Old Style" panose="02050604050505020204" pitchFamily="18" charset="0"/>
              </a:rPr>
              <a:t> </a:t>
            </a:r>
            <a:br>
              <a:rPr lang="tr-TR" dirty="0">
                <a:solidFill>
                  <a:schemeClr val="accent2">
                    <a:lumMod val="50000"/>
                  </a:schemeClr>
                </a:solidFill>
                <a:latin typeface="Bookman Old Style" panose="02050604050505020204" pitchFamily="18" charset="0"/>
              </a:rPr>
            </a:br>
            <a:r>
              <a:rPr lang="en-US" dirty="0" err="1">
                <a:solidFill>
                  <a:schemeClr val="accent2">
                    <a:lumMod val="50000"/>
                  </a:schemeClr>
                </a:solidFill>
                <a:latin typeface="Bookman Old Style" panose="02050604050505020204" pitchFamily="18" charset="0"/>
              </a:rPr>
              <a:t>Teknolojiler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r-TR" sz="2000" dirty="0">
                <a:latin typeface="Bahnschrift Light SemiCondensed" panose="020B0502040204020203" pitchFamily="34" charset="0"/>
                <a:cs typeface="Arial" panose="020B0604020202020204" pitchFamily="34" charset="0"/>
              </a:rPr>
              <a:t>- </a:t>
            </a:r>
            <a:r>
              <a:rPr lang="en-US" sz="2000" dirty="0" err="1">
                <a:latin typeface="Bahnschrift Light SemiCondensed" panose="020B0502040204020203" pitchFamily="34" charset="0"/>
                <a:cs typeface="Arial" panose="020B0604020202020204" pitchFamily="34" charset="0"/>
              </a:rPr>
              <a:t>Müşteri</a:t>
            </a:r>
            <a:r>
              <a:rPr lang="en-US" sz="2000" dirty="0">
                <a:latin typeface="Bahnschrift Light SemiCondensed" panose="020B0502040204020203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Bahnschrift Light SemiCondensed" panose="020B0502040204020203" pitchFamily="34" charset="0"/>
                <a:cs typeface="Arial" panose="020B0604020202020204" pitchFamily="34" charset="0"/>
              </a:rPr>
              <a:t>şikayetlerini</a:t>
            </a:r>
            <a:r>
              <a:rPr lang="en-US" sz="2000" dirty="0">
                <a:latin typeface="Bahnschrift Light SemiCondensed" panose="020B0502040204020203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Bahnschrift Light SemiCondensed" panose="020B0502040204020203" pitchFamily="34" charset="0"/>
                <a:cs typeface="Arial" panose="020B0604020202020204" pitchFamily="34" charset="0"/>
              </a:rPr>
              <a:t>otomatik</a:t>
            </a:r>
            <a:r>
              <a:rPr lang="en-US" sz="2000" dirty="0">
                <a:latin typeface="Bahnschrift Light SemiCondensed" panose="020B0502040204020203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Bahnschrift Light SemiCondensed" panose="020B0502040204020203" pitchFamily="34" charset="0"/>
                <a:cs typeface="Arial" panose="020B0604020202020204" pitchFamily="34" charset="0"/>
              </a:rPr>
              <a:t>sınıflandırmak</a:t>
            </a:r>
            <a:r>
              <a:rPr lang="en-US" sz="2000" dirty="0">
                <a:latin typeface="Bahnschrift Light SemiCondensed" panose="020B0502040204020203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tr-TR" sz="2000" dirty="0">
                <a:latin typeface="Bahnschrift Light SemiCondensed" panose="020B0502040204020203" pitchFamily="34" charset="0"/>
                <a:cs typeface="Arial" panose="020B0604020202020204" pitchFamily="34" charset="0"/>
              </a:rPr>
              <a:t>- </a:t>
            </a:r>
            <a:r>
              <a:rPr lang="en-US" sz="2000" dirty="0" err="1">
                <a:latin typeface="Bahnschrift Light SemiCondensed" panose="020B0502040204020203" pitchFamily="34" charset="0"/>
                <a:cs typeface="Arial" panose="020B0604020202020204" pitchFamily="34" charset="0"/>
              </a:rPr>
              <a:t>Doğru</a:t>
            </a:r>
            <a:r>
              <a:rPr lang="en-US" sz="2000" dirty="0">
                <a:latin typeface="Bahnschrift Light SemiCondensed" panose="020B0502040204020203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Bahnschrift Light SemiCondensed" panose="020B0502040204020203" pitchFamily="34" charset="0"/>
                <a:cs typeface="Arial" panose="020B0604020202020204" pitchFamily="34" charset="0"/>
              </a:rPr>
              <a:t>departmana</a:t>
            </a:r>
            <a:r>
              <a:rPr lang="en-US" sz="2000" dirty="0">
                <a:latin typeface="Bahnschrift Light SemiCondensed" panose="020B0502040204020203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Bahnschrift Light SemiCondensed" panose="020B0502040204020203" pitchFamily="34" charset="0"/>
                <a:cs typeface="Arial" panose="020B0604020202020204" pitchFamily="34" charset="0"/>
              </a:rPr>
              <a:t>yönlendirmek</a:t>
            </a:r>
            <a:r>
              <a:rPr lang="en-US" sz="2000" dirty="0">
                <a:latin typeface="Bahnschrift Light SemiCondensed" panose="020B0502040204020203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tr-TR" sz="2000" dirty="0">
                <a:latin typeface="Bahnschrift Light SemiCondensed" panose="020B0502040204020203" pitchFamily="34" charset="0"/>
                <a:cs typeface="Arial" panose="020B0604020202020204" pitchFamily="34" charset="0"/>
              </a:rPr>
              <a:t>- </a:t>
            </a:r>
            <a:r>
              <a:rPr lang="en-US" sz="2000" dirty="0" err="1">
                <a:latin typeface="Bahnschrift Light SemiCondensed" panose="020B0502040204020203" pitchFamily="34" charset="0"/>
                <a:cs typeface="Arial" panose="020B0604020202020204" pitchFamily="34" charset="0"/>
              </a:rPr>
              <a:t>Süreci</a:t>
            </a:r>
            <a:r>
              <a:rPr lang="en-US" sz="2000" dirty="0">
                <a:latin typeface="Bahnschrift Light SemiCondensed" panose="020B0502040204020203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Bahnschrift Light SemiCondensed" panose="020B0502040204020203" pitchFamily="34" charset="0"/>
                <a:cs typeface="Arial" panose="020B0604020202020204" pitchFamily="34" charset="0"/>
              </a:rPr>
              <a:t>hızlandırmak</a:t>
            </a:r>
            <a:r>
              <a:rPr lang="en-US" sz="2000" dirty="0">
                <a:latin typeface="Bahnschrift Light SemiCondensed" panose="020B0502040204020203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Bahnschrift Light SemiCondensed" panose="020B0502040204020203" pitchFamily="34" charset="0"/>
                <a:cs typeface="Arial" panose="020B0604020202020204" pitchFamily="34" charset="0"/>
              </a:rPr>
              <a:t>ve</a:t>
            </a:r>
            <a:r>
              <a:rPr lang="en-US" sz="2000" dirty="0">
                <a:latin typeface="Bahnschrift Light SemiCondensed" panose="020B0502040204020203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Bahnschrift Light SemiCondensed" panose="020B0502040204020203" pitchFamily="34" charset="0"/>
                <a:cs typeface="Arial" panose="020B0604020202020204" pitchFamily="34" charset="0"/>
              </a:rPr>
              <a:t>otomasyon</a:t>
            </a:r>
            <a:r>
              <a:rPr lang="en-US" sz="2000" dirty="0">
                <a:latin typeface="Bahnschrift Light SemiCondensed" panose="020B0502040204020203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Bahnschrift Light SemiCondensed" panose="020B0502040204020203" pitchFamily="34" charset="0"/>
                <a:cs typeface="Arial" panose="020B0604020202020204" pitchFamily="34" charset="0"/>
              </a:rPr>
              <a:t>sağlamak</a:t>
            </a:r>
            <a:r>
              <a:rPr lang="en-US" sz="2000" dirty="0">
                <a:latin typeface="Bahnschrift Light SemiCondensed" panose="020B0502040204020203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en-US" sz="2000" b="1" dirty="0" err="1">
                <a:solidFill>
                  <a:schemeClr val="tx2">
                    <a:lumMod val="75000"/>
                  </a:schemeClr>
                </a:solidFill>
                <a:latin typeface="Bookman Old Style" panose="02050604050505020204" pitchFamily="18" charset="0"/>
                <a:cs typeface="Arial" panose="020B0604020202020204" pitchFamily="34" charset="0"/>
              </a:rPr>
              <a:t>Kullanılan</a:t>
            </a:r>
            <a:r>
              <a:rPr lang="en-US" sz="2000" b="1" dirty="0">
                <a:solidFill>
                  <a:schemeClr val="tx2">
                    <a:lumMod val="75000"/>
                  </a:schemeClr>
                </a:solidFill>
                <a:latin typeface="Bookman Old Style" panose="02050604050505020204" pitchFamily="18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solidFill>
                  <a:schemeClr val="tx2">
                    <a:lumMod val="75000"/>
                  </a:schemeClr>
                </a:solidFill>
                <a:latin typeface="Bookman Old Style" panose="02050604050505020204" pitchFamily="18" charset="0"/>
                <a:cs typeface="Arial" panose="020B0604020202020204" pitchFamily="34" charset="0"/>
              </a:rPr>
              <a:t>Teknolojiler</a:t>
            </a:r>
            <a:endParaRPr lang="en-US" sz="2000" b="1" dirty="0">
              <a:solidFill>
                <a:schemeClr val="tx2">
                  <a:lumMod val="75000"/>
                </a:schemeClr>
              </a:solidFill>
              <a:latin typeface="Bookman Old Style" panose="02050604050505020204" pitchFamily="18" charset="0"/>
              <a:cs typeface="Arial" panose="020B0604020202020204" pitchFamily="34" charset="0"/>
            </a:endParaRPr>
          </a:p>
          <a:p>
            <a:r>
              <a:rPr lang="en-US" sz="2000" dirty="0" err="1">
                <a:latin typeface="Bahnschrift Light SemiCondensed" panose="020B0502040204020203" pitchFamily="34" charset="0"/>
                <a:cs typeface="Arial" panose="020B0604020202020204" pitchFamily="34" charset="0"/>
              </a:rPr>
              <a:t>Doğal</a:t>
            </a:r>
            <a:r>
              <a:rPr lang="en-US" sz="2000" dirty="0">
                <a:latin typeface="Bahnschrift Light SemiCondensed" panose="020B0502040204020203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Bahnschrift Light SemiCondensed" panose="020B0502040204020203" pitchFamily="34" charset="0"/>
                <a:cs typeface="Arial" panose="020B0604020202020204" pitchFamily="34" charset="0"/>
              </a:rPr>
              <a:t>Dil</a:t>
            </a:r>
            <a:r>
              <a:rPr lang="en-US" sz="2000" dirty="0">
                <a:latin typeface="Bahnschrift Light SemiCondensed" panose="020B0502040204020203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Bahnschrift Light SemiCondensed" panose="020B0502040204020203" pitchFamily="34" charset="0"/>
                <a:cs typeface="Arial" panose="020B0604020202020204" pitchFamily="34" charset="0"/>
              </a:rPr>
              <a:t>İşleme</a:t>
            </a:r>
            <a:r>
              <a:rPr lang="en-US" sz="2000" dirty="0">
                <a:latin typeface="Bahnschrift Light SemiCondensed" panose="020B0502040204020203" pitchFamily="34" charset="0"/>
                <a:cs typeface="Arial" panose="020B0604020202020204" pitchFamily="34" charset="0"/>
              </a:rPr>
              <a:t> (NLP) </a:t>
            </a:r>
          </a:p>
          <a:p>
            <a:r>
              <a:rPr lang="en-US" sz="2000" dirty="0">
                <a:latin typeface="Bahnschrift Light SemiCondensed" panose="020B0502040204020203" pitchFamily="34" charset="0"/>
                <a:cs typeface="Arial" panose="020B0604020202020204" pitchFamily="34" charset="0"/>
              </a:rPr>
              <a:t>BERT (Transformer </a:t>
            </a:r>
            <a:r>
              <a:rPr lang="en-US" sz="2000" dirty="0" err="1">
                <a:latin typeface="Bahnschrift Light SemiCondensed" panose="020B0502040204020203" pitchFamily="34" charset="0"/>
                <a:cs typeface="Arial" panose="020B0604020202020204" pitchFamily="34" charset="0"/>
              </a:rPr>
              <a:t>mimarisi</a:t>
            </a:r>
            <a:r>
              <a:rPr lang="en-US" sz="2000" dirty="0">
                <a:latin typeface="Bahnschrift Light SemiCondensed" panose="020B0502040204020203" pitchFamily="34" charset="0"/>
                <a:cs typeface="Arial" panose="020B0604020202020204" pitchFamily="34" charset="0"/>
              </a:rPr>
              <a:t>) </a:t>
            </a:r>
          </a:p>
          <a:p>
            <a:r>
              <a:rPr lang="en-US" sz="2000" dirty="0">
                <a:latin typeface="Bahnschrift Light SemiCondensed" panose="020B0502040204020203" pitchFamily="34" charset="0"/>
                <a:cs typeface="Arial" panose="020B0604020202020204" pitchFamily="34" charset="0"/>
              </a:rPr>
              <a:t>Python </a:t>
            </a:r>
          </a:p>
          <a:p>
            <a:r>
              <a:rPr lang="en-US" sz="2000" dirty="0" err="1">
                <a:latin typeface="Bahnschrift Light SemiCondensed" panose="020B0502040204020203" pitchFamily="34" charset="0"/>
                <a:cs typeface="Arial" panose="020B0604020202020204" pitchFamily="34" charset="0"/>
              </a:rPr>
              <a:t>PyTorch</a:t>
            </a:r>
            <a:r>
              <a:rPr lang="en-US" sz="2000" dirty="0">
                <a:latin typeface="Bahnschrift Light SemiCondensed" panose="020B0502040204020203" pitchFamily="34" charset="0"/>
                <a:cs typeface="Arial" panose="020B0604020202020204" pitchFamily="34" charset="0"/>
              </a:rPr>
              <a:t> / </a:t>
            </a:r>
            <a:r>
              <a:rPr lang="en-US" sz="2000" dirty="0" err="1">
                <a:latin typeface="Bahnschrift Light SemiCondensed" panose="020B0502040204020203" pitchFamily="34" charset="0"/>
                <a:cs typeface="Arial" panose="020B0604020202020204" pitchFamily="34" charset="0"/>
              </a:rPr>
              <a:t>TensorFlow</a:t>
            </a:r>
            <a:r>
              <a:rPr lang="en-US" sz="2000" dirty="0">
                <a:latin typeface="Bahnschrift Light SemiCondensed" panose="020B0502040204020203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en-US" sz="2000" dirty="0" err="1">
                <a:latin typeface="Bahnschrift Light SemiCondensed" panose="020B0502040204020203" pitchFamily="34" charset="0"/>
                <a:cs typeface="Arial" panose="020B0604020202020204" pitchFamily="34" charset="0"/>
              </a:rPr>
              <a:t>HuggingFace</a:t>
            </a:r>
            <a:r>
              <a:rPr lang="en-US" sz="2000" dirty="0">
                <a:latin typeface="Bahnschrift Light SemiCondensed" panose="020B0502040204020203" pitchFamily="34" charset="0"/>
                <a:cs typeface="Arial" panose="020B0604020202020204" pitchFamily="34" charset="0"/>
              </a:rPr>
              <a:t> Transformers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268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>
                <a:solidFill>
                  <a:schemeClr val="accent2">
                    <a:lumMod val="50000"/>
                  </a:schemeClr>
                </a:solidFill>
                <a:latin typeface="Bookman Old Style" panose="02050604050505020204" pitchFamily="18" charset="0"/>
              </a:rPr>
              <a:t>Veri seti</a:t>
            </a:r>
            <a:endParaRPr lang="en-US" dirty="0">
              <a:solidFill>
                <a:schemeClr val="accent2">
                  <a:lumMod val="50000"/>
                </a:schemeClr>
              </a:solidFill>
              <a:latin typeface="Bookman Old Style" panose="02050604050505020204" pitchFamily="18" charset="0"/>
            </a:endParaRP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 dirty="0">
                <a:latin typeface="Bahnschrift Light" panose="020B0502040204020203" pitchFamily="34" charset="0"/>
              </a:rPr>
              <a:t>Bu </a:t>
            </a:r>
            <a:r>
              <a:rPr lang="en-US" dirty="0" err="1">
                <a:latin typeface="Bahnschrift Light" panose="020B0502040204020203" pitchFamily="34" charset="0"/>
              </a:rPr>
              <a:t>çalışmada</a:t>
            </a:r>
            <a:r>
              <a:rPr lang="en-US" dirty="0">
                <a:latin typeface="Bahnschrift Light" panose="020B0502040204020203" pitchFamily="34" charset="0"/>
              </a:rPr>
              <a:t>, </a:t>
            </a:r>
            <a:r>
              <a:rPr lang="en-US" dirty="0" err="1">
                <a:latin typeface="Bahnschrift Light" panose="020B0502040204020203" pitchFamily="34" charset="0"/>
              </a:rPr>
              <a:t>vatandaşlardan</a:t>
            </a:r>
            <a:r>
              <a:rPr lang="en-US" dirty="0">
                <a:latin typeface="Bahnschrift Light" panose="020B0502040204020203" pitchFamily="34" charset="0"/>
              </a:rPr>
              <a:t> </a:t>
            </a:r>
            <a:r>
              <a:rPr lang="en-US" dirty="0" err="1">
                <a:latin typeface="Bahnschrift Light" panose="020B0502040204020203" pitchFamily="34" charset="0"/>
              </a:rPr>
              <a:t>belediyelere</a:t>
            </a:r>
            <a:r>
              <a:rPr lang="en-US" dirty="0">
                <a:latin typeface="Bahnschrift Light" panose="020B0502040204020203" pitchFamily="34" charset="0"/>
              </a:rPr>
              <a:t> </a:t>
            </a:r>
            <a:r>
              <a:rPr lang="en-US" dirty="0" err="1">
                <a:latin typeface="Bahnschrift Light" panose="020B0502040204020203" pitchFamily="34" charset="0"/>
              </a:rPr>
              <a:t>iletilen</a:t>
            </a:r>
            <a:r>
              <a:rPr lang="en-US" dirty="0">
                <a:latin typeface="Bahnschrift Light" panose="020B0502040204020203" pitchFamily="34" charset="0"/>
              </a:rPr>
              <a:t> </a:t>
            </a:r>
            <a:r>
              <a:rPr lang="en-US" dirty="0" err="1">
                <a:latin typeface="Bahnschrift Light" panose="020B0502040204020203" pitchFamily="34" charset="0"/>
              </a:rPr>
              <a:t>şikayetleri</a:t>
            </a:r>
            <a:r>
              <a:rPr lang="en-US" dirty="0">
                <a:latin typeface="Bahnschrift Light" panose="020B0502040204020203" pitchFamily="34" charset="0"/>
              </a:rPr>
              <a:t> </a:t>
            </a:r>
            <a:r>
              <a:rPr lang="en-US" dirty="0" err="1">
                <a:latin typeface="Bahnschrift Light" panose="020B0502040204020203" pitchFamily="34" charset="0"/>
              </a:rPr>
              <a:t>içeren</a:t>
            </a:r>
            <a:r>
              <a:rPr lang="en-US" dirty="0">
                <a:latin typeface="Bahnschrift Light" panose="020B0502040204020203" pitchFamily="34" charset="0"/>
              </a:rPr>
              <a:t> </a:t>
            </a:r>
            <a:r>
              <a:rPr lang="en-US" dirty="0" err="1">
                <a:latin typeface="Bahnschrift Light" panose="020B0502040204020203" pitchFamily="34" charset="0"/>
              </a:rPr>
              <a:t>etiketli</a:t>
            </a:r>
            <a:r>
              <a:rPr lang="en-US" dirty="0">
                <a:latin typeface="Bahnschrift Light" panose="020B0502040204020203" pitchFamily="34" charset="0"/>
              </a:rPr>
              <a:t> </a:t>
            </a:r>
            <a:r>
              <a:rPr lang="en-US" dirty="0" err="1">
                <a:latin typeface="Bahnschrift Light" panose="020B0502040204020203" pitchFamily="34" charset="0"/>
              </a:rPr>
              <a:t>bir</a:t>
            </a:r>
            <a:r>
              <a:rPr lang="en-US" dirty="0">
                <a:latin typeface="Bahnschrift Light" panose="020B0502040204020203" pitchFamily="34" charset="0"/>
              </a:rPr>
              <a:t> </a:t>
            </a:r>
            <a:r>
              <a:rPr lang="en-US" dirty="0" err="1">
                <a:latin typeface="Bahnschrift Light" panose="020B0502040204020203" pitchFamily="34" charset="0"/>
              </a:rPr>
              <a:t>metin</a:t>
            </a:r>
            <a:r>
              <a:rPr lang="en-US" dirty="0">
                <a:latin typeface="Bahnschrift Light" panose="020B0502040204020203" pitchFamily="34" charset="0"/>
              </a:rPr>
              <a:t> </a:t>
            </a:r>
            <a:r>
              <a:rPr lang="en-US" dirty="0" err="1">
                <a:latin typeface="Bahnschrift Light" panose="020B0502040204020203" pitchFamily="34" charset="0"/>
              </a:rPr>
              <a:t>veri</a:t>
            </a:r>
            <a:r>
              <a:rPr lang="en-US" dirty="0">
                <a:latin typeface="Bahnschrift Light" panose="020B0502040204020203" pitchFamily="34" charset="0"/>
              </a:rPr>
              <a:t> </a:t>
            </a:r>
            <a:r>
              <a:rPr lang="en-US" dirty="0" err="1">
                <a:latin typeface="Bahnschrift Light" panose="020B0502040204020203" pitchFamily="34" charset="0"/>
              </a:rPr>
              <a:t>seti</a:t>
            </a:r>
            <a:r>
              <a:rPr lang="en-US" dirty="0">
                <a:latin typeface="Bahnschrift Light" panose="020B0502040204020203" pitchFamily="34" charset="0"/>
              </a:rPr>
              <a:t> </a:t>
            </a:r>
            <a:r>
              <a:rPr lang="en-US" dirty="0" err="1">
                <a:latin typeface="Bahnschrift Light" panose="020B0502040204020203" pitchFamily="34" charset="0"/>
              </a:rPr>
              <a:t>kullanılmıştır</a:t>
            </a:r>
            <a:r>
              <a:rPr lang="en-US" dirty="0">
                <a:latin typeface="Bahnschrift Light" panose="020B0502040204020203" pitchFamily="34" charset="0"/>
              </a:rPr>
              <a:t>. Veri </a:t>
            </a:r>
            <a:r>
              <a:rPr lang="en-US" dirty="0" err="1">
                <a:latin typeface="Bahnschrift Light" panose="020B0502040204020203" pitchFamily="34" charset="0"/>
              </a:rPr>
              <a:t>seti</a:t>
            </a:r>
            <a:r>
              <a:rPr lang="en-US" dirty="0">
                <a:latin typeface="Bahnschrift Light" panose="020B0502040204020203" pitchFamily="34" charset="0"/>
              </a:rPr>
              <a:t>, </a:t>
            </a:r>
            <a:r>
              <a:rPr lang="en-US" dirty="0" err="1">
                <a:latin typeface="Bahnschrift Light" panose="020B0502040204020203" pitchFamily="34" charset="0"/>
              </a:rPr>
              <a:t>farklı</a:t>
            </a:r>
            <a:r>
              <a:rPr lang="en-US" dirty="0">
                <a:latin typeface="Bahnschrift Light" panose="020B0502040204020203" pitchFamily="34" charset="0"/>
              </a:rPr>
              <a:t> </a:t>
            </a:r>
            <a:r>
              <a:rPr lang="en-US" dirty="0" err="1">
                <a:latin typeface="Bahnschrift Light" panose="020B0502040204020203" pitchFamily="34" charset="0"/>
              </a:rPr>
              <a:t>belediye</a:t>
            </a:r>
            <a:r>
              <a:rPr lang="en-US" dirty="0">
                <a:latin typeface="Bahnschrift Light" panose="020B0502040204020203" pitchFamily="34" charset="0"/>
              </a:rPr>
              <a:t> </a:t>
            </a:r>
            <a:r>
              <a:rPr lang="en-US" dirty="0" err="1">
                <a:latin typeface="Bahnschrift Light" panose="020B0502040204020203" pitchFamily="34" charset="0"/>
              </a:rPr>
              <a:t>hizmet</a:t>
            </a:r>
            <a:r>
              <a:rPr lang="en-US" dirty="0">
                <a:latin typeface="Bahnschrift Light" panose="020B0502040204020203" pitchFamily="34" charset="0"/>
              </a:rPr>
              <a:t> </a:t>
            </a:r>
            <a:r>
              <a:rPr lang="en-US" dirty="0" err="1">
                <a:latin typeface="Bahnschrift Light" panose="020B0502040204020203" pitchFamily="34" charset="0"/>
              </a:rPr>
              <a:t>alanlarından</a:t>
            </a:r>
            <a:r>
              <a:rPr lang="en-US" dirty="0">
                <a:latin typeface="Bahnschrift Light" panose="020B0502040204020203" pitchFamily="34" charset="0"/>
              </a:rPr>
              <a:t> </a:t>
            </a:r>
            <a:r>
              <a:rPr lang="en-US" dirty="0" err="1">
                <a:latin typeface="Bahnschrift Light" panose="020B0502040204020203" pitchFamily="34" charset="0"/>
              </a:rPr>
              <a:t>gelen</a:t>
            </a:r>
            <a:r>
              <a:rPr lang="en-US" dirty="0">
                <a:latin typeface="Bahnschrift Light" panose="020B0502040204020203" pitchFamily="34" charset="0"/>
              </a:rPr>
              <a:t> </a:t>
            </a:r>
            <a:r>
              <a:rPr lang="en-US" dirty="0" err="1">
                <a:latin typeface="Bahnschrift Light" panose="020B0502040204020203" pitchFamily="34" charset="0"/>
              </a:rPr>
              <a:t>vatandaş</a:t>
            </a:r>
            <a:r>
              <a:rPr lang="en-US" dirty="0">
                <a:latin typeface="Bahnschrift Light" panose="020B0502040204020203" pitchFamily="34" charset="0"/>
              </a:rPr>
              <a:t> </a:t>
            </a:r>
            <a:r>
              <a:rPr lang="en-US" dirty="0" err="1">
                <a:latin typeface="Bahnschrift Light" panose="020B0502040204020203" pitchFamily="34" charset="0"/>
              </a:rPr>
              <a:t>geri</a:t>
            </a:r>
            <a:r>
              <a:rPr lang="en-US" dirty="0">
                <a:latin typeface="Bahnschrift Light" panose="020B0502040204020203" pitchFamily="34" charset="0"/>
              </a:rPr>
              <a:t> </a:t>
            </a:r>
            <a:r>
              <a:rPr lang="en-US" dirty="0" err="1">
                <a:latin typeface="Bahnschrift Light" panose="020B0502040204020203" pitchFamily="34" charset="0"/>
              </a:rPr>
              <a:t>bildirimlerini</a:t>
            </a:r>
            <a:r>
              <a:rPr lang="en-US" dirty="0">
                <a:latin typeface="Bahnschrift Light" panose="020B0502040204020203" pitchFamily="34" charset="0"/>
              </a:rPr>
              <a:t> </a:t>
            </a:r>
            <a:r>
              <a:rPr lang="en-US" dirty="0" err="1">
                <a:latin typeface="Bahnschrift Light" panose="020B0502040204020203" pitchFamily="34" charset="0"/>
              </a:rPr>
              <a:t>kapsamakta</a:t>
            </a:r>
            <a:r>
              <a:rPr lang="en-US" dirty="0">
                <a:latin typeface="Bahnschrift Light" panose="020B0502040204020203" pitchFamily="34" charset="0"/>
              </a:rPr>
              <a:t> </a:t>
            </a:r>
            <a:r>
              <a:rPr lang="en-US" dirty="0" err="1">
                <a:latin typeface="Bahnschrift Light" panose="020B0502040204020203" pitchFamily="34" charset="0"/>
              </a:rPr>
              <a:t>olup</a:t>
            </a:r>
            <a:r>
              <a:rPr lang="en-US" dirty="0">
                <a:latin typeface="Bahnschrift Light" panose="020B0502040204020203" pitchFamily="34" charset="0"/>
              </a:rPr>
              <a:t> her </a:t>
            </a:r>
            <a:r>
              <a:rPr lang="en-US" dirty="0" err="1">
                <a:latin typeface="Bahnschrift Light" panose="020B0502040204020203" pitchFamily="34" charset="0"/>
              </a:rPr>
              <a:t>bir</a:t>
            </a:r>
            <a:r>
              <a:rPr lang="en-US" dirty="0">
                <a:latin typeface="Bahnschrift Light" panose="020B0502040204020203" pitchFamily="34" charset="0"/>
              </a:rPr>
              <a:t> </a:t>
            </a:r>
            <a:r>
              <a:rPr lang="en-US" dirty="0" err="1">
                <a:latin typeface="Bahnschrift Light" panose="020B0502040204020203" pitchFamily="34" charset="0"/>
              </a:rPr>
              <a:t>şikayet</a:t>
            </a:r>
            <a:r>
              <a:rPr lang="en-US" dirty="0">
                <a:latin typeface="Bahnschrift Light" panose="020B0502040204020203" pitchFamily="34" charset="0"/>
              </a:rPr>
              <a:t> </a:t>
            </a:r>
            <a:r>
              <a:rPr lang="en-US" dirty="0" err="1">
                <a:latin typeface="Bahnschrift Light" panose="020B0502040204020203" pitchFamily="34" charset="0"/>
              </a:rPr>
              <a:t>metni</a:t>
            </a:r>
            <a:r>
              <a:rPr lang="en-US" dirty="0">
                <a:latin typeface="Bahnschrift Light" panose="020B0502040204020203" pitchFamily="34" charset="0"/>
              </a:rPr>
              <a:t> </a:t>
            </a:r>
            <a:r>
              <a:rPr lang="en-US" dirty="0" err="1">
                <a:latin typeface="Bahnschrift Light" panose="020B0502040204020203" pitchFamily="34" charset="0"/>
              </a:rPr>
              <a:t>ilgili</a:t>
            </a:r>
            <a:r>
              <a:rPr lang="en-US" dirty="0">
                <a:latin typeface="Bahnschrift Light" panose="020B0502040204020203" pitchFamily="34" charset="0"/>
              </a:rPr>
              <a:t> </a:t>
            </a:r>
            <a:r>
              <a:rPr lang="en-US" dirty="0" err="1">
                <a:latin typeface="Bahnschrift Light" panose="020B0502040204020203" pitchFamily="34" charset="0"/>
              </a:rPr>
              <a:t>belediye</a:t>
            </a:r>
            <a:r>
              <a:rPr lang="en-US" dirty="0">
                <a:latin typeface="Bahnschrift Light" panose="020B0502040204020203" pitchFamily="34" charset="0"/>
              </a:rPr>
              <a:t> </a:t>
            </a:r>
            <a:r>
              <a:rPr lang="en-US" dirty="0" err="1">
                <a:latin typeface="Bahnschrift Light" panose="020B0502040204020203" pitchFamily="34" charset="0"/>
              </a:rPr>
              <a:t>hizmet</a:t>
            </a:r>
            <a:r>
              <a:rPr lang="en-US" dirty="0">
                <a:latin typeface="Bahnschrift Light" panose="020B0502040204020203" pitchFamily="34" charset="0"/>
              </a:rPr>
              <a:t> </a:t>
            </a:r>
            <a:r>
              <a:rPr lang="en-US" dirty="0" err="1">
                <a:latin typeface="Bahnschrift Light" panose="020B0502040204020203" pitchFamily="34" charset="0"/>
              </a:rPr>
              <a:t>kategorisi</a:t>
            </a:r>
            <a:r>
              <a:rPr lang="en-US" dirty="0">
                <a:latin typeface="Bahnschrift Light" panose="020B0502040204020203" pitchFamily="34" charset="0"/>
              </a:rPr>
              <a:t> </a:t>
            </a:r>
            <a:r>
              <a:rPr lang="en-US" dirty="0" err="1">
                <a:latin typeface="Bahnschrift Light" panose="020B0502040204020203" pitchFamily="34" charset="0"/>
              </a:rPr>
              <a:t>ile</a:t>
            </a:r>
            <a:r>
              <a:rPr lang="en-US" dirty="0">
                <a:latin typeface="Bahnschrift Light" panose="020B0502040204020203" pitchFamily="34" charset="0"/>
              </a:rPr>
              <a:t> </a:t>
            </a:r>
            <a:r>
              <a:rPr lang="en-US" dirty="0" err="1">
                <a:latin typeface="Bahnschrift Light" panose="020B0502040204020203" pitchFamily="34" charset="0"/>
              </a:rPr>
              <a:t>eşleştirilmiştir</a:t>
            </a:r>
            <a:r>
              <a:rPr lang="en-US" dirty="0">
                <a:latin typeface="Bahnschrift Light" panose="020B0502040204020203" pitchFamily="34" charset="0"/>
              </a:rPr>
              <a:t>.</a:t>
            </a:r>
            <a:endParaRPr lang="tr-TR" dirty="0">
              <a:latin typeface="Bahnschrift Light" panose="020B0502040204020203" pitchFamily="34" charset="0"/>
              <a:cs typeface="Arial" panose="020B0604020202020204" pitchFamily="34" charset="0"/>
            </a:endParaRPr>
          </a:p>
          <a:p>
            <a:pPr marL="128016" lvl="1" indent="0">
              <a:buNone/>
            </a:pPr>
            <a:endParaRPr lang="tr-TR" dirty="0">
              <a:latin typeface="Bahnschrift Light" panose="020B0502040204020203" pitchFamily="34" charset="0"/>
              <a:cs typeface="Arial" panose="020B0604020202020204" pitchFamily="34" charset="0"/>
            </a:endParaRPr>
          </a:p>
          <a:p>
            <a:pPr lvl="1"/>
            <a:r>
              <a:rPr lang="en-US" dirty="0" err="1">
                <a:latin typeface="Bahnschrift Light" panose="020B0502040204020203" pitchFamily="34" charset="0"/>
              </a:rPr>
              <a:t>Çalışma</a:t>
            </a:r>
            <a:r>
              <a:rPr lang="en-US" dirty="0">
                <a:latin typeface="Bahnschrift Light" panose="020B0502040204020203" pitchFamily="34" charset="0"/>
              </a:rPr>
              <a:t> </a:t>
            </a:r>
            <a:r>
              <a:rPr lang="en-US" dirty="0" err="1">
                <a:latin typeface="Bahnschrift Light" panose="020B0502040204020203" pitchFamily="34" charset="0"/>
              </a:rPr>
              <a:t>kapsamında</a:t>
            </a:r>
            <a:r>
              <a:rPr lang="en-US" dirty="0">
                <a:latin typeface="Bahnschrift Light" panose="020B0502040204020203" pitchFamily="34" charset="0"/>
              </a:rPr>
              <a:t> </a:t>
            </a:r>
            <a:r>
              <a:rPr lang="en-US" dirty="0" err="1">
                <a:latin typeface="Bahnschrift Light" panose="020B0502040204020203" pitchFamily="34" charset="0"/>
              </a:rPr>
              <a:t>veri</a:t>
            </a:r>
            <a:r>
              <a:rPr lang="en-US" dirty="0">
                <a:latin typeface="Bahnschrift Light" panose="020B0502040204020203" pitchFamily="34" charset="0"/>
              </a:rPr>
              <a:t> </a:t>
            </a:r>
            <a:r>
              <a:rPr lang="en-US" dirty="0" err="1">
                <a:latin typeface="Bahnschrift Light" panose="020B0502040204020203" pitchFamily="34" charset="0"/>
              </a:rPr>
              <a:t>seti</a:t>
            </a:r>
            <a:r>
              <a:rPr lang="en-US" dirty="0">
                <a:latin typeface="Bahnschrift Light" panose="020B0502040204020203" pitchFamily="34" charset="0"/>
              </a:rPr>
              <a:t> 6 </a:t>
            </a:r>
            <a:r>
              <a:rPr lang="en-US" dirty="0" err="1">
                <a:latin typeface="Bahnschrift Light" panose="020B0502040204020203" pitchFamily="34" charset="0"/>
              </a:rPr>
              <a:t>farklı</a:t>
            </a:r>
            <a:r>
              <a:rPr lang="en-US" dirty="0">
                <a:latin typeface="Bahnschrift Light" panose="020B0502040204020203" pitchFamily="34" charset="0"/>
              </a:rPr>
              <a:t> </a:t>
            </a:r>
            <a:r>
              <a:rPr lang="en-US" dirty="0" err="1">
                <a:latin typeface="Bahnschrift Light" panose="020B0502040204020203" pitchFamily="34" charset="0"/>
              </a:rPr>
              <a:t>sınıftan</a:t>
            </a:r>
            <a:r>
              <a:rPr lang="en-US" dirty="0">
                <a:latin typeface="Bahnschrift Light" panose="020B0502040204020203" pitchFamily="34" charset="0"/>
              </a:rPr>
              <a:t> </a:t>
            </a:r>
            <a:r>
              <a:rPr lang="en-US" dirty="0" err="1">
                <a:latin typeface="Bahnschrift Light" panose="020B0502040204020203" pitchFamily="34" charset="0"/>
              </a:rPr>
              <a:t>oluşmaktadır</a:t>
            </a:r>
            <a:r>
              <a:rPr lang="en-US" dirty="0">
                <a:latin typeface="Bahnschrift Light" panose="020B0502040204020203" pitchFamily="34" charset="0"/>
              </a:rPr>
              <a:t>. Bu </a:t>
            </a:r>
            <a:r>
              <a:rPr lang="en-US" dirty="0" err="1">
                <a:latin typeface="Bahnschrift Light" panose="020B0502040204020203" pitchFamily="34" charset="0"/>
              </a:rPr>
              <a:t>sınıflar</a:t>
            </a:r>
            <a:r>
              <a:rPr lang="en-US" dirty="0">
                <a:latin typeface="Bahnschrift Light" panose="020B0502040204020203" pitchFamily="34" charset="0"/>
              </a:rPr>
              <a:t>; </a:t>
            </a:r>
            <a:r>
              <a:rPr lang="en-US" dirty="0" err="1">
                <a:latin typeface="Bahnschrift Light" panose="020B0502040204020203" pitchFamily="34" charset="0"/>
              </a:rPr>
              <a:t>çevre</a:t>
            </a:r>
            <a:r>
              <a:rPr lang="en-US" dirty="0">
                <a:latin typeface="Bahnschrift Light" panose="020B0502040204020203" pitchFamily="34" charset="0"/>
              </a:rPr>
              <a:t> </a:t>
            </a:r>
            <a:r>
              <a:rPr lang="en-US" dirty="0" err="1">
                <a:latin typeface="Bahnschrift Light" panose="020B0502040204020203" pitchFamily="34" charset="0"/>
              </a:rPr>
              <a:t>temizliği</a:t>
            </a:r>
            <a:r>
              <a:rPr lang="en-US" dirty="0">
                <a:latin typeface="Bahnschrift Light" panose="020B0502040204020203" pitchFamily="34" charset="0"/>
              </a:rPr>
              <a:t>, </a:t>
            </a:r>
            <a:r>
              <a:rPr lang="en-US" dirty="0" err="1">
                <a:latin typeface="Bahnschrift Light" panose="020B0502040204020203" pitchFamily="34" charset="0"/>
              </a:rPr>
              <a:t>yol</a:t>
            </a:r>
            <a:r>
              <a:rPr lang="en-US" dirty="0">
                <a:latin typeface="Bahnschrift Light" panose="020B0502040204020203" pitchFamily="34" charset="0"/>
              </a:rPr>
              <a:t> </a:t>
            </a:r>
            <a:r>
              <a:rPr lang="en-US" dirty="0" err="1">
                <a:latin typeface="Bahnschrift Light" panose="020B0502040204020203" pitchFamily="34" charset="0"/>
              </a:rPr>
              <a:t>bakım</a:t>
            </a:r>
            <a:r>
              <a:rPr lang="en-US" dirty="0">
                <a:latin typeface="Bahnschrift Light" panose="020B0502040204020203" pitchFamily="34" charset="0"/>
              </a:rPr>
              <a:t>, </a:t>
            </a:r>
            <a:r>
              <a:rPr lang="en-US" dirty="0" err="1">
                <a:latin typeface="Bahnschrift Light" panose="020B0502040204020203" pitchFamily="34" charset="0"/>
              </a:rPr>
              <a:t>altyapı</a:t>
            </a:r>
            <a:r>
              <a:rPr lang="en-US" dirty="0">
                <a:latin typeface="Bahnschrift Light" panose="020B0502040204020203" pitchFamily="34" charset="0"/>
              </a:rPr>
              <a:t>, </a:t>
            </a:r>
            <a:r>
              <a:rPr lang="en-US" dirty="0" err="1">
                <a:latin typeface="Bahnschrift Light" panose="020B0502040204020203" pitchFamily="34" charset="0"/>
              </a:rPr>
              <a:t>sokak</a:t>
            </a:r>
            <a:r>
              <a:rPr lang="en-US" dirty="0">
                <a:latin typeface="Bahnschrift Light" panose="020B0502040204020203" pitchFamily="34" charset="0"/>
              </a:rPr>
              <a:t> </a:t>
            </a:r>
            <a:r>
              <a:rPr lang="en-US" dirty="0" err="1">
                <a:latin typeface="Bahnschrift Light" panose="020B0502040204020203" pitchFamily="34" charset="0"/>
              </a:rPr>
              <a:t>aydınlatması</a:t>
            </a:r>
            <a:r>
              <a:rPr lang="en-US" dirty="0">
                <a:latin typeface="Bahnschrift Light" panose="020B0502040204020203" pitchFamily="34" charset="0"/>
              </a:rPr>
              <a:t>, park </a:t>
            </a:r>
            <a:r>
              <a:rPr lang="en-US" dirty="0" err="1">
                <a:latin typeface="Bahnschrift Light" panose="020B0502040204020203" pitchFamily="34" charset="0"/>
              </a:rPr>
              <a:t>ve</a:t>
            </a:r>
            <a:r>
              <a:rPr lang="en-US" dirty="0">
                <a:latin typeface="Bahnschrift Light" panose="020B0502040204020203" pitchFamily="34" charset="0"/>
              </a:rPr>
              <a:t> </a:t>
            </a:r>
            <a:r>
              <a:rPr lang="en-US" dirty="0" err="1">
                <a:latin typeface="Bahnschrift Light" panose="020B0502040204020203" pitchFamily="34" charset="0"/>
              </a:rPr>
              <a:t>bahçeler</a:t>
            </a:r>
            <a:r>
              <a:rPr lang="en-US" dirty="0">
                <a:latin typeface="Bahnschrift Light" panose="020B0502040204020203" pitchFamily="34" charset="0"/>
              </a:rPr>
              <a:t> </a:t>
            </a:r>
            <a:r>
              <a:rPr lang="en-US" dirty="0" err="1">
                <a:latin typeface="Bahnschrift Light" panose="020B0502040204020203" pitchFamily="34" charset="0"/>
              </a:rPr>
              <a:t>ve</a:t>
            </a:r>
            <a:r>
              <a:rPr lang="en-US" dirty="0">
                <a:latin typeface="Bahnschrift Light" panose="020B0502040204020203" pitchFamily="34" charset="0"/>
              </a:rPr>
              <a:t> </a:t>
            </a:r>
            <a:r>
              <a:rPr lang="en-US" dirty="0" err="1">
                <a:latin typeface="Bahnschrift Light" panose="020B0502040204020203" pitchFamily="34" charset="0"/>
              </a:rPr>
              <a:t>hayvan</a:t>
            </a:r>
            <a:r>
              <a:rPr lang="en-US" dirty="0">
                <a:latin typeface="Bahnschrift Light" panose="020B0502040204020203" pitchFamily="34" charset="0"/>
              </a:rPr>
              <a:t> </a:t>
            </a:r>
            <a:r>
              <a:rPr lang="en-US" dirty="0" err="1">
                <a:latin typeface="Bahnschrift Light" panose="020B0502040204020203" pitchFamily="34" charset="0"/>
              </a:rPr>
              <a:t>kontrolü</a:t>
            </a:r>
            <a:r>
              <a:rPr lang="en-US" dirty="0">
                <a:latin typeface="Bahnschrift Light" panose="020B0502040204020203" pitchFamily="34" charset="0"/>
              </a:rPr>
              <a:t> </a:t>
            </a:r>
            <a:r>
              <a:rPr lang="en-US" dirty="0" err="1">
                <a:latin typeface="Bahnschrift Light" panose="020B0502040204020203" pitchFamily="34" charset="0"/>
              </a:rPr>
              <a:t>şeklindedir</a:t>
            </a:r>
            <a:r>
              <a:rPr lang="en-US" dirty="0">
                <a:latin typeface="Bahnschrift Light" panose="020B0502040204020203" pitchFamily="34" charset="0"/>
              </a:rPr>
              <a:t>. Her </a:t>
            </a:r>
            <a:r>
              <a:rPr lang="en-US" dirty="0" err="1">
                <a:latin typeface="Bahnschrift Light" panose="020B0502040204020203" pitchFamily="34" charset="0"/>
              </a:rPr>
              <a:t>sınıf</a:t>
            </a:r>
            <a:r>
              <a:rPr lang="en-US" dirty="0">
                <a:latin typeface="Bahnschrift Light" panose="020B0502040204020203" pitchFamily="34" charset="0"/>
              </a:rPr>
              <a:t>, </a:t>
            </a:r>
            <a:r>
              <a:rPr lang="en-US" dirty="0" err="1">
                <a:latin typeface="Bahnschrift Light" panose="020B0502040204020203" pitchFamily="34" charset="0"/>
              </a:rPr>
              <a:t>modelin</a:t>
            </a:r>
            <a:r>
              <a:rPr lang="en-US" dirty="0">
                <a:latin typeface="Bahnschrift Light" panose="020B0502040204020203" pitchFamily="34" charset="0"/>
              </a:rPr>
              <a:t> </a:t>
            </a:r>
            <a:r>
              <a:rPr lang="en-US" dirty="0" err="1">
                <a:latin typeface="Bahnschrift Light" panose="020B0502040204020203" pitchFamily="34" charset="0"/>
              </a:rPr>
              <a:t>öğrenebilmesi</a:t>
            </a:r>
            <a:r>
              <a:rPr lang="en-US" dirty="0">
                <a:latin typeface="Bahnschrift Light" panose="020B0502040204020203" pitchFamily="34" charset="0"/>
              </a:rPr>
              <a:t> </a:t>
            </a:r>
            <a:r>
              <a:rPr lang="en-US" dirty="0" err="1">
                <a:latin typeface="Bahnschrift Light" panose="020B0502040204020203" pitchFamily="34" charset="0"/>
              </a:rPr>
              <a:t>için</a:t>
            </a:r>
            <a:r>
              <a:rPr lang="en-US" dirty="0">
                <a:latin typeface="Bahnschrift Light" panose="020B0502040204020203" pitchFamily="34" charset="0"/>
              </a:rPr>
              <a:t> </a:t>
            </a:r>
            <a:r>
              <a:rPr lang="en-US" dirty="0" err="1">
                <a:latin typeface="Bahnschrift Light" panose="020B0502040204020203" pitchFamily="34" charset="0"/>
              </a:rPr>
              <a:t>etiketlenmiş</a:t>
            </a:r>
            <a:r>
              <a:rPr lang="en-US" dirty="0">
                <a:latin typeface="Bahnschrift Light" panose="020B0502040204020203" pitchFamily="34" charset="0"/>
              </a:rPr>
              <a:t> </a:t>
            </a:r>
            <a:r>
              <a:rPr lang="en-US" dirty="0" err="1">
                <a:latin typeface="Bahnschrift Light" panose="020B0502040204020203" pitchFamily="34" charset="0"/>
              </a:rPr>
              <a:t>örneklerden</a:t>
            </a:r>
            <a:r>
              <a:rPr lang="en-US" dirty="0">
                <a:latin typeface="Bahnschrift Light" panose="020B0502040204020203" pitchFamily="34" charset="0"/>
              </a:rPr>
              <a:t> </a:t>
            </a:r>
            <a:r>
              <a:rPr lang="en-US" dirty="0" err="1">
                <a:latin typeface="Bahnschrift Light" panose="020B0502040204020203" pitchFamily="34" charset="0"/>
              </a:rPr>
              <a:t>oluşmaktadır</a:t>
            </a:r>
            <a:r>
              <a:rPr lang="en-US" dirty="0">
                <a:latin typeface="Bahnschrift Light" panose="020B0502040204020203" pitchFamily="34" charset="0"/>
              </a:rPr>
              <a:t>.</a:t>
            </a:r>
          </a:p>
          <a:p>
            <a:pPr lvl="1"/>
            <a:endParaRPr lang="tr-TR" dirty="0">
              <a:latin typeface="Bahnschrift Light" panose="020B0502040204020203" pitchFamily="34" charset="0"/>
              <a:cs typeface="Arial" panose="020B0604020202020204" pitchFamily="34" charset="0"/>
            </a:endParaRPr>
          </a:p>
          <a:p>
            <a:pPr lvl="1"/>
            <a:r>
              <a:rPr lang="en-US" dirty="0">
                <a:latin typeface="Bahnschrift Light" panose="020B0502040204020203" pitchFamily="34" charset="0"/>
              </a:rPr>
              <a:t>Veri </a:t>
            </a:r>
            <a:r>
              <a:rPr lang="en-US" dirty="0" err="1">
                <a:latin typeface="Bahnschrift Light" panose="020B0502040204020203" pitchFamily="34" charset="0"/>
              </a:rPr>
              <a:t>seti</a:t>
            </a:r>
            <a:r>
              <a:rPr lang="en-US" dirty="0">
                <a:latin typeface="Bahnschrift Light" panose="020B0502040204020203" pitchFamily="34" charset="0"/>
              </a:rPr>
              <a:t>, </a:t>
            </a:r>
            <a:r>
              <a:rPr lang="en-US" dirty="0" err="1">
                <a:latin typeface="Bahnschrift Light" panose="020B0502040204020203" pitchFamily="34" charset="0"/>
              </a:rPr>
              <a:t>modelin</a:t>
            </a:r>
            <a:r>
              <a:rPr lang="en-US" dirty="0">
                <a:latin typeface="Bahnschrift Light" panose="020B0502040204020203" pitchFamily="34" charset="0"/>
              </a:rPr>
              <a:t> hem </a:t>
            </a:r>
            <a:r>
              <a:rPr lang="en-US" dirty="0" err="1">
                <a:latin typeface="Bahnschrift Light" panose="020B0502040204020203" pitchFamily="34" charset="0"/>
              </a:rPr>
              <a:t>eğitim</a:t>
            </a:r>
            <a:r>
              <a:rPr lang="en-US" dirty="0">
                <a:latin typeface="Bahnschrift Light" panose="020B0502040204020203" pitchFamily="34" charset="0"/>
              </a:rPr>
              <a:t> hem de test </a:t>
            </a:r>
            <a:r>
              <a:rPr lang="en-US" dirty="0" err="1">
                <a:latin typeface="Bahnschrift Light" panose="020B0502040204020203" pitchFamily="34" charset="0"/>
              </a:rPr>
              <a:t>aşamalarında</a:t>
            </a:r>
            <a:r>
              <a:rPr lang="en-US" dirty="0">
                <a:latin typeface="Bahnschrift Light" panose="020B0502040204020203" pitchFamily="34" charset="0"/>
              </a:rPr>
              <a:t> </a:t>
            </a:r>
            <a:r>
              <a:rPr lang="en-US" dirty="0" err="1">
                <a:latin typeface="Bahnschrift Light" panose="020B0502040204020203" pitchFamily="34" charset="0"/>
              </a:rPr>
              <a:t>kullanılmış</a:t>
            </a:r>
            <a:r>
              <a:rPr lang="en-US" dirty="0">
                <a:latin typeface="Bahnschrift Light" panose="020B0502040204020203" pitchFamily="34" charset="0"/>
              </a:rPr>
              <a:t> </a:t>
            </a:r>
            <a:r>
              <a:rPr lang="en-US" dirty="0" err="1">
                <a:latin typeface="Bahnschrift Light" panose="020B0502040204020203" pitchFamily="34" charset="0"/>
              </a:rPr>
              <a:t>ve</a:t>
            </a:r>
            <a:r>
              <a:rPr lang="en-US" dirty="0">
                <a:latin typeface="Bahnschrift Light" panose="020B0502040204020203" pitchFamily="34" charset="0"/>
              </a:rPr>
              <a:t> </a:t>
            </a:r>
            <a:r>
              <a:rPr lang="en-US" dirty="0" err="1">
                <a:latin typeface="Bahnschrift Light" panose="020B0502040204020203" pitchFamily="34" charset="0"/>
              </a:rPr>
              <a:t>sistemin</a:t>
            </a:r>
            <a:r>
              <a:rPr lang="en-US" dirty="0">
                <a:latin typeface="Bahnschrift Light" panose="020B0502040204020203" pitchFamily="34" charset="0"/>
              </a:rPr>
              <a:t> </a:t>
            </a:r>
            <a:r>
              <a:rPr lang="en-US" dirty="0" err="1">
                <a:latin typeface="Bahnschrift Light" panose="020B0502040204020203" pitchFamily="34" charset="0"/>
              </a:rPr>
              <a:t>vatandaş</a:t>
            </a:r>
            <a:r>
              <a:rPr lang="en-US" dirty="0">
                <a:latin typeface="Bahnschrift Light" panose="020B0502040204020203" pitchFamily="34" charset="0"/>
              </a:rPr>
              <a:t> </a:t>
            </a:r>
            <a:r>
              <a:rPr lang="en-US" dirty="0" err="1">
                <a:latin typeface="Bahnschrift Light" panose="020B0502040204020203" pitchFamily="34" charset="0"/>
              </a:rPr>
              <a:t>şikayetlerini</a:t>
            </a:r>
            <a:r>
              <a:rPr lang="en-US" dirty="0">
                <a:latin typeface="Bahnschrift Light" panose="020B0502040204020203" pitchFamily="34" charset="0"/>
              </a:rPr>
              <a:t> </a:t>
            </a:r>
            <a:r>
              <a:rPr lang="en-US" dirty="0" err="1">
                <a:latin typeface="Bahnschrift Light" panose="020B0502040204020203" pitchFamily="34" charset="0"/>
              </a:rPr>
              <a:t>doğru</a:t>
            </a:r>
            <a:r>
              <a:rPr lang="en-US" dirty="0">
                <a:latin typeface="Bahnschrift Light" panose="020B0502040204020203" pitchFamily="34" charset="0"/>
              </a:rPr>
              <a:t> </a:t>
            </a:r>
            <a:r>
              <a:rPr lang="en-US" dirty="0" err="1">
                <a:latin typeface="Bahnschrift Light" panose="020B0502040204020203" pitchFamily="34" charset="0"/>
              </a:rPr>
              <a:t>şekilde</a:t>
            </a:r>
            <a:r>
              <a:rPr lang="en-US" dirty="0">
                <a:latin typeface="Bahnschrift Light" panose="020B0502040204020203" pitchFamily="34" charset="0"/>
              </a:rPr>
              <a:t> </a:t>
            </a:r>
            <a:r>
              <a:rPr lang="en-US" dirty="0" err="1">
                <a:latin typeface="Bahnschrift Light" panose="020B0502040204020203" pitchFamily="34" charset="0"/>
              </a:rPr>
              <a:t>ilgili</a:t>
            </a:r>
            <a:r>
              <a:rPr lang="en-US" dirty="0">
                <a:latin typeface="Bahnschrift Light" panose="020B0502040204020203" pitchFamily="34" charset="0"/>
              </a:rPr>
              <a:t> </a:t>
            </a:r>
            <a:r>
              <a:rPr lang="en-US" dirty="0" err="1">
                <a:latin typeface="Bahnschrift Light" panose="020B0502040204020203" pitchFamily="34" charset="0"/>
              </a:rPr>
              <a:t>belediye</a:t>
            </a:r>
            <a:r>
              <a:rPr lang="en-US" dirty="0">
                <a:latin typeface="Bahnschrift Light" panose="020B0502040204020203" pitchFamily="34" charset="0"/>
              </a:rPr>
              <a:t> </a:t>
            </a:r>
            <a:r>
              <a:rPr lang="en-US" dirty="0" err="1">
                <a:latin typeface="Bahnschrift Light" panose="020B0502040204020203" pitchFamily="34" charset="0"/>
              </a:rPr>
              <a:t>birimlerine</a:t>
            </a:r>
            <a:r>
              <a:rPr lang="en-US" dirty="0">
                <a:latin typeface="Bahnschrift Light" panose="020B0502040204020203" pitchFamily="34" charset="0"/>
              </a:rPr>
              <a:t> </a:t>
            </a:r>
            <a:r>
              <a:rPr lang="en-US" dirty="0" err="1">
                <a:latin typeface="Bahnschrift Light" panose="020B0502040204020203" pitchFamily="34" charset="0"/>
              </a:rPr>
              <a:t>sınıflandırabilmesi</a:t>
            </a:r>
            <a:r>
              <a:rPr lang="en-US" dirty="0">
                <a:latin typeface="Bahnschrift Light" panose="020B0502040204020203" pitchFamily="34" charset="0"/>
              </a:rPr>
              <a:t> </a:t>
            </a:r>
            <a:r>
              <a:rPr lang="en-US" dirty="0" err="1">
                <a:latin typeface="Bahnschrift Light" panose="020B0502040204020203" pitchFamily="34" charset="0"/>
              </a:rPr>
              <a:t>hedeflenmiştir</a:t>
            </a:r>
            <a:r>
              <a:rPr lang="en-US" dirty="0">
                <a:latin typeface="Bahnschrift Light" panose="020B0502040204020203" pitchFamily="34" charset="0"/>
              </a:rPr>
              <a:t>.</a:t>
            </a:r>
            <a:endParaRPr lang="tr-TR" dirty="0">
              <a:latin typeface="Bahnschrift Light" panose="020B0502040204020203" pitchFamily="34" charset="0"/>
              <a:cs typeface="Arial" panose="020B0604020202020204" pitchFamily="34" charset="0"/>
            </a:endParaRPr>
          </a:p>
          <a:p>
            <a:pPr marL="128016" lvl="1" indent="0">
              <a:buNone/>
            </a:pPr>
            <a:endParaRPr lang="en-US" dirty="0">
              <a:latin typeface="Bahnschrift Light SemiCondensed" panose="020B0502040204020203" pitchFamily="34" charset="0"/>
              <a:cs typeface="Arial" panose="020B060402020202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66368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err="1">
                <a:solidFill>
                  <a:schemeClr val="accent2">
                    <a:lumMod val="50000"/>
                  </a:schemeClr>
                </a:solidFill>
                <a:latin typeface="Bookman Old Style" panose="02050604050505020204" pitchFamily="18" charset="0"/>
              </a:rPr>
              <a:t>Veri</a:t>
            </a:r>
            <a:r>
              <a:rPr lang="en-US" sz="3600" dirty="0">
                <a:solidFill>
                  <a:schemeClr val="accent2">
                    <a:lumMod val="50000"/>
                  </a:schemeClr>
                </a:solidFill>
                <a:latin typeface="Bookman Old Style" panose="02050604050505020204" pitchFamily="18" charset="0"/>
              </a:rPr>
              <a:t> </a:t>
            </a:r>
            <a:r>
              <a:rPr lang="en-US" sz="3600" dirty="0" err="1">
                <a:solidFill>
                  <a:schemeClr val="accent2">
                    <a:lumMod val="50000"/>
                  </a:schemeClr>
                </a:solidFill>
                <a:latin typeface="Bookman Old Style" panose="02050604050505020204" pitchFamily="18" charset="0"/>
              </a:rPr>
              <a:t>Ön</a:t>
            </a:r>
            <a:r>
              <a:rPr lang="en-US" sz="3600" dirty="0">
                <a:solidFill>
                  <a:schemeClr val="accent2">
                    <a:lumMod val="50000"/>
                  </a:schemeClr>
                </a:solidFill>
                <a:latin typeface="Bookman Old Style" panose="02050604050505020204" pitchFamily="18" charset="0"/>
              </a:rPr>
              <a:t> </a:t>
            </a:r>
            <a:r>
              <a:rPr lang="en-US" sz="3600" dirty="0" err="1">
                <a:solidFill>
                  <a:schemeClr val="accent2">
                    <a:lumMod val="50000"/>
                  </a:schemeClr>
                </a:solidFill>
                <a:latin typeface="Bookman Old Style" panose="02050604050505020204" pitchFamily="18" charset="0"/>
              </a:rPr>
              <a:t>İşleme</a:t>
            </a:r>
            <a:r>
              <a:rPr lang="en-US" sz="3600" dirty="0">
                <a:solidFill>
                  <a:schemeClr val="accent2">
                    <a:lumMod val="50000"/>
                  </a:schemeClr>
                </a:solidFill>
                <a:latin typeface="Bookman Old Style" panose="02050604050505020204" pitchFamily="18" charset="0"/>
              </a:rPr>
              <a:t> </a:t>
            </a:r>
            <a:r>
              <a:rPr lang="en-US" sz="3600" dirty="0" err="1">
                <a:solidFill>
                  <a:schemeClr val="accent2">
                    <a:lumMod val="50000"/>
                  </a:schemeClr>
                </a:solidFill>
                <a:latin typeface="Bookman Old Style" panose="02050604050505020204" pitchFamily="18" charset="0"/>
              </a:rPr>
              <a:t>ve</a:t>
            </a:r>
            <a:r>
              <a:rPr lang="en-US" sz="3600" dirty="0">
                <a:solidFill>
                  <a:schemeClr val="accent2">
                    <a:lumMod val="50000"/>
                  </a:schemeClr>
                </a:solidFill>
                <a:latin typeface="Bookman Old Style" panose="02050604050505020204" pitchFamily="18" charset="0"/>
              </a:rPr>
              <a:t> Model </a:t>
            </a:r>
            <a:r>
              <a:rPr lang="en-US" sz="3600" dirty="0" err="1">
                <a:solidFill>
                  <a:schemeClr val="accent2">
                    <a:lumMod val="50000"/>
                  </a:schemeClr>
                </a:solidFill>
                <a:latin typeface="Bookman Old Style" panose="02050604050505020204" pitchFamily="18" charset="0"/>
              </a:rPr>
              <a:t>Mimarisi</a:t>
            </a:r>
            <a:endParaRPr lang="en-US" sz="3600" dirty="0">
              <a:solidFill>
                <a:schemeClr val="accent2">
                  <a:lumMod val="50000"/>
                </a:schemeClr>
              </a:solidFill>
              <a:latin typeface="Bookman Old Style" panose="02050604050505020204" pitchFamily="18" charset="0"/>
            </a:endParaRP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024128" y="2137279"/>
            <a:ext cx="10729219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 SemiCondensed" panose="020B0502040204020203" pitchFamily="34" charset="0"/>
              </a:rPr>
              <a:t>  </a:t>
            </a:r>
            <a:r>
              <a:rPr lang="tr-TR" altLang="en-US" sz="1800" dirty="0">
                <a:latin typeface="Bahnschrift Light SemiCondensed" panose="020B0502040204020203" pitchFamily="34" charset="0"/>
              </a:rPr>
              <a:t>-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 SemiCondensed" panose="020B0502040204020203" pitchFamily="34" charset="0"/>
              </a:rPr>
              <a:t>Bu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hnschrift Light SemiCondensed" panose="020B0502040204020203" pitchFamily="34" charset="0"/>
              </a:rPr>
              <a:t>çalışmada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 SemiCondensed" panose="020B0502040204020203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hnschrift Light SemiCondensed" panose="020B0502040204020203" pitchFamily="34" charset="0"/>
              </a:rPr>
              <a:t>veri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 SemiCondensed" panose="020B0502040204020203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hnschrift Light SemiCondensed" panose="020B0502040204020203" pitchFamily="34" charset="0"/>
              </a:rPr>
              <a:t>seti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 SemiCondensed" panose="020B0502040204020203" pitchFamily="34" charset="0"/>
              </a:rPr>
              <a:t>, BERT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hnschrift Light SemiCondensed" panose="020B0502040204020203" pitchFamily="34" charset="0"/>
              </a:rPr>
              <a:t>modeline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 SemiCondensed" panose="020B0502040204020203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hnschrift Light SemiCondensed" panose="020B0502040204020203" pitchFamily="34" charset="0"/>
              </a:rPr>
              <a:t>uygun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 SemiCondensed" panose="020B0502040204020203" pitchFamily="34" charset="0"/>
              </a:rPr>
              <a:t> hale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hnschrift Light SemiCondensed" panose="020B0502040204020203" pitchFamily="34" charset="0"/>
              </a:rPr>
              <a:t>getirilmeden</a:t>
            </a:r>
            <a:endParaRPr kumimoji="0" lang="tr-TR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 Light SemiCondensed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hnschrift Light SemiCondensed" panose="020B0502040204020203" pitchFamily="34" charset="0"/>
              </a:rPr>
              <a:t>önce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 SemiCondensed" panose="020B0502040204020203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hnschrift Light SemiCondensed" panose="020B0502040204020203" pitchFamily="34" charset="0"/>
              </a:rPr>
              <a:t>ön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 SemiCondensed" panose="020B0502040204020203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hnschrift Light SemiCondensed" panose="020B0502040204020203" pitchFamily="34" charset="0"/>
              </a:rPr>
              <a:t>işleme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 SemiCondensed" panose="020B0502040204020203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hnschrift Light SemiCondensed" panose="020B0502040204020203" pitchFamily="34" charset="0"/>
              </a:rPr>
              <a:t>adımlarından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 SemiCondensed" panose="020B0502040204020203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hnschrift Light SemiCondensed" panose="020B0502040204020203" pitchFamily="34" charset="0"/>
              </a:rPr>
              <a:t>geçirilmiştir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 SemiCondensed" panose="020B0502040204020203" pitchFamily="34" charset="0"/>
              </a:rPr>
              <a:t>.</a:t>
            </a:r>
            <a:endParaRPr kumimoji="0" lang="tr-TR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 Light SemiCondensed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tr-TR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 Light SemiCondensed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 SemiCondensed" panose="020B0502040204020203" pitchFamily="34" charset="0"/>
              </a:rPr>
              <a:t> </a:t>
            </a:r>
            <a:r>
              <a:rPr kumimoji="0" lang="tr-TR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 SemiCondensed" panose="020B0502040204020203" pitchFamily="34" charset="0"/>
              </a:rPr>
              <a:t> -</a:t>
            </a:r>
            <a:r>
              <a:rPr kumimoji="0" lang="tr-TR" altLang="en-US" sz="18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 SemiCondensed" panose="020B0502040204020203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hnschrift Light SemiCondensed" panose="020B0502040204020203" pitchFamily="34" charset="0"/>
              </a:rPr>
              <a:t>Metinler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 SemiCondensed" panose="020B0502040204020203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hnschrift Light SemiCondensed" panose="020B0502040204020203" pitchFamily="34" charset="0"/>
              </a:rPr>
              <a:t>WordPiece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 SemiCondensed" panose="020B0502040204020203" pitchFamily="34" charset="0"/>
              </a:rPr>
              <a:t> tokenizer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hnschrift Light SemiCondensed" panose="020B0502040204020203" pitchFamily="34" charset="0"/>
              </a:rPr>
              <a:t>kullanılarak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 SemiCondensed" panose="020B0502040204020203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hnschrift Light SemiCondensed" panose="020B0502040204020203" pitchFamily="34" charset="0"/>
              </a:rPr>
              <a:t>sayısal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 SemiCondensed" panose="020B0502040204020203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hnschrift Light SemiCondensed" panose="020B0502040204020203" pitchFamily="34" charset="0"/>
              </a:rPr>
              <a:t>tokenlara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 SemiCondensed" panose="020B0502040204020203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hnschrift Light SemiCondensed" panose="020B0502040204020203" pitchFamily="34" charset="0"/>
              </a:rPr>
              <a:t>dönüştürülmüş</a:t>
            </a:r>
            <a:r>
              <a:rPr kumimoji="0" lang="tr-TR" altLang="en-US" sz="18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 SemiCondensed" panose="020B0502040204020203" pitchFamily="34" charset="0"/>
              </a:rPr>
              <a:t> ve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tr-TR" altLang="en-US" sz="1800" dirty="0">
                <a:latin typeface="Bahnschrift Light SemiCondensed" panose="020B0502040204020203" pitchFamily="34" charset="0"/>
              </a:rPr>
              <a:t>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 SemiCondensed" panose="020B0502040204020203" pitchFamily="34" charset="0"/>
              </a:rPr>
              <a:t>er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hnschrift Light SemiCondensed" panose="020B0502040204020203" pitchFamily="34" charset="0"/>
              </a:rPr>
              <a:t>bir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 SemiCondensed" panose="020B0502040204020203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hnschrift Light SemiCondensed" panose="020B0502040204020203" pitchFamily="34" charset="0"/>
              </a:rPr>
              <a:t>şikayet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 SemiCondensed" panose="020B0502040204020203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hnschrift Light SemiCondensed" panose="020B0502040204020203" pitchFamily="34" charset="0"/>
              </a:rPr>
              <a:t>metni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 SemiCondensed" panose="020B0502040204020203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hnschrift Light SemiCondensed" panose="020B0502040204020203" pitchFamily="34" charset="0"/>
              </a:rPr>
              <a:t>input_ids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 SemiCondensed" panose="020B0502040204020203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hnschrift Light SemiCondensed" panose="020B0502040204020203" pitchFamily="34" charset="0"/>
              </a:rPr>
              <a:t>ve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 SemiCondensed" panose="020B0502040204020203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hnschrift Light SemiCondensed" panose="020B0502040204020203" pitchFamily="34" charset="0"/>
              </a:rPr>
              <a:t>attention_mask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 SemiCondensed" panose="020B0502040204020203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hnschrift Light SemiCondensed" panose="020B0502040204020203" pitchFamily="34" charset="0"/>
              </a:rPr>
              <a:t>yapıları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 SemiCondensed" panose="020B0502040204020203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hnschrift Light SemiCondensed" panose="020B0502040204020203" pitchFamily="34" charset="0"/>
              </a:rPr>
              <a:t>ile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 SemiCondensed" panose="020B0502040204020203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hnschrift Light SemiCondensed" panose="020B0502040204020203" pitchFamily="34" charset="0"/>
              </a:rPr>
              <a:t>modele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 SemiCondensed" panose="020B0502040204020203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hnschrift Light SemiCondensed" panose="020B0502040204020203" pitchFamily="34" charset="0"/>
              </a:rPr>
              <a:t>uygun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 SemiCondensed" panose="020B0502040204020203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hnschrift Light SemiCondensed" panose="020B0502040204020203" pitchFamily="34" charset="0"/>
              </a:rPr>
              <a:t>formata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 SemiCondensed" panose="020B0502040204020203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hnschrift Light SemiCondensed" panose="020B0502040204020203" pitchFamily="34" charset="0"/>
              </a:rPr>
              <a:t>getirilmiştir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 SemiCondensed" panose="020B0502040204020203" pitchFamily="34" charset="0"/>
              </a:rPr>
              <a:t>.</a:t>
            </a:r>
            <a:endParaRPr kumimoji="0" lang="tr-TR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 Light SemiCondensed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tr-TR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 Light SemiCondensed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 SemiCondensed" panose="020B0502040204020203" pitchFamily="34" charset="0"/>
              </a:rPr>
              <a:t> </a:t>
            </a:r>
            <a:r>
              <a:rPr kumimoji="0" lang="tr-TR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 SemiCondensed" panose="020B0502040204020203" pitchFamily="34" charset="0"/>
              </a:rPr>
              <a:t> </a:t>
            </a:r>
            <a:r>
              <a:rPr lang="tr-TR" altLang="en-US" sz="1800" dirty="0">
                <a:latin typeface="Bahnschrift Light SemiCondensed" panose="020B0502040204020203" pitchFamily="34" charset="0"/>
              </a:rPr>
              <a:t>-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hnschrift Light SemiCondensed" panose="020B0502040204020203" pitchFamily="34" charset="0"/>
              </a:rPr>
              <a:t>Tüm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 SemiCondensed" panose="020B0502040204020203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hnschrift Light SemiCondensed" panose="020B0502040204020203" pitchFamily="34" charset="0"/>
              </a:rPr>
              <a:t>girdiler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 SemiCondensed" panose="020B0502040204020203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hnschrift Light SemiCondensed" panose="020B0502040204020203" pitchFamily="34" charset="0"/>
              </a:rPr>
              <a:t>sabit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 SemiCondensed" panose="020B0502040204020203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hnschrift Light SemiCondensed" panose="020B0502040204020203" pitchFamily="34" charset="0"/>
              </a:rPr>
              <a:t>uzunluğa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 SemiCondensed" panose="020B0502040204020203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hnschrift Light SemiCondensed" panose="020B0502040204020203" pitchFamily="34" charset="0"/>
              </a:rPr>
              <a:t>getirilmiş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 SemiCondensed" panose="020B0502040204020203" pitchFamily="34" charset="0"/>
              </a:rPr>
              <a:t>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hnschrift Light SemiCondensed" panose="020B0502040204020203" pitchFamily="34" charset="0"/>
              </a:rPr>
              <a:t>kısa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 SemiCondensed" panose="020B0502040204020203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hnschrift Light SemiCondensed" panose="020B0502040204020203" pitchFamily="34" charset="0"/>
              </a:rPr>
              <a:t>metinler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 SemiCondensed" panose="020B0502040204020203" pitchFamily="34" charset="0"/>
              </a:rPr>
              <a:t> padding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hnschrift Light SemiCondensed" panose="020B0502040204020203" pitchFamily="34" charset="0"/>
              </a:rPr>
              <a:t>ile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 SemiCondensed" panose="020B0502040204020203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hnschrift Light SemiCondensed" panose="020B0502040204020203" pitchFamily="34" charset="0"/>
              </a:rPr>
              <a:t>tamamlanmış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 SemiCondensed" panose="020B0502040204020203" pitchFamily="34" charset="0"/>
              </a:rPr>
              <a:t>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hnschrift Light SemiCondensed" panose="020B0502040204020203" pitchFamily="34" charset="0"/>
              </a:rPr>
              <a:t>uzun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 SemiCondensed" panose="020B0502040204020203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hnschrift Light SemiCondensed" panose="020B0502040204020203" pitchFamily="34" charset="0"/>
              </a:rPr>
              <a:t>metinler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 SemiCondensed" panose="020B0502040204020203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hnschrift Light SemiCondensed" panose="020B0502040204020203" pitchFamily="34" charset="0"/>
              </a:rPr>
              <a:t>ise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 SemiCondensed" panose="020B0502040204020203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hnschrift Light SemiCondensed" panose="020B0502040204020203" pitchFamily="34" charset="0"/>
              </a:rPr>
              <a:t>kesilmiştir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 SemiCondensed" panose="020B0502040204020203" pitchFamily="34" charset="0"/>
              </a:rPr>
              <a:t>.</a:t>
            </a:r>
            <a:endParaRPr kumimoji="0" lang="tr-TR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 Light SemiCondensed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 Light SemiCondensed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 SemiCondensed" panose="020B0502040204020203" pitchFamily="34" charset="0"/>
              </a:rPr>
              <a:t>  -</a:t>
            </a:r>
            <a:r>
              <a:rPr kumimoji="0" lang="tr-TR" altLang="en-US" sz="18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 SemiCondensed" panose="020B0502040204020203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 SemiCondensed" panose="020B0502040204020203" pitchFamily="34" charset="0"/>
              </a:rPr>
              <a:t>Model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hnschrift Light SemiCondensed" panose="020B0502040204020203" pitchFamily="34" charset="0"/>
              </a:rPr>
              <a:t>olarak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 SemiCondensed" panose="020B0502040204020203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hnschrift Light SemiCondensed" panose="020B0502040204020203" pitchFamily="34" charset="0"/>
              </a:rPr>
              <a:t>önceden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 SemiCondensed" panose="020B0502040204020203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hnschrift Light SemiCondensed" panose="020B0502040204020203" pitchFamily="34" charset="0"/>
              </a:rPr>
              <a:t>eğitilmiş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 SemiCondensed" panose="020B0502040204020203" pitchFamily="34" charset="0"/>
              </a:rPr>
              <a:t> BERT (Transformer)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hnschrift Light SemiCondensed" panose="020B0502040204020203" pitchFamily="34" charset="0"/>
              </a:rPr>
              <a:t>mimarisi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 SemiCondensed" panose="020B0502040204020203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hnschrift Light SemiCondensed" panose="020B0502040204020203" pitchFamily="34" charset="0"/>
              </a:rPr>
              <a:t>kullanılmıştır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 SemiCondensed" panose="020B0502040204020203" pitchFamily="34" charset="0"/>
              </a:rPr>
              <a:t>.</a:t>
            </a:r>
            <a:endParaRPr lang="tr-TR" altLang="en-US" sz="1800" dirty="0">
              <a:latin typeface="Bahnschrift Light SemiCondensed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 SemiCondensed" panose="020B0502040204020203" pitchFamily="34" charset="0"/>
              </a:rPr>
              <a:t>BERT,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hnschrift Light SemiCondensed" panose="020B0502040204020203" pitchFamily="34" charset="0"/>
              </a:rPr>
              <a:t>metni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 SemiCondensed" panose="020B0502040204020203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hnschrift Light SemiCondensed" panose="020B0502040204020203" pitchFamily="34" charset="0"/>
              </a:rPr>
              <a:t>çift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 SemiCondensed" panose="020B0502040204020203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hnschrift Light SemiCondensed" panose="020B0502040204020203" pitchFamily="34" charset="0"/>
              </a:rPr>
              <a:t>yönlü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 SemiCondensed" panose="020B0502040204020203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hnschrift Light SemiCondensed" panose="020B0502040204020203" pitchFamily="34" charset="0"/>
              </a:rPr>
              <a:t>bağlamda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 SemiCondensed" panose="020B0502040204020203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hnschrift Light SemiCondensed" panose="020B0502040204020203" pitchFamily="34" charset="0"/>
              </a:rPr>
              <a:t>öğrenerek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 SemiCondensed" panose="020B0502040204020203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hnschrift Light SemiCondensed" panose="020B0502040204020203" pitchFamily="34" charset="0"/>
              </a:rPr>
              <a:t>anlam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 SemiCondensed" panose="020B0502040204020203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hnschrift Light SemiCondensed" panose="020B0502040204020203" pitchFamily="34" charset="0"/>
              </a:rPr>
              <a:t>temsili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 SemiCondensed" panose="020B0502040204020203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hnschrift Light SemiCondensed" panose="020B0502040204020203" pitchFamily="34" charset="0"/>
              </a:rPr>
              <a:t>oluşturur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 SemiCondensed" panose="020B0502040204020203" pitchFamily="34" charset="0"/>
              </a:rPr>
              <a:t>.</a:t>
            </a:r>
            <a:r>
              <a:rPr kumimoji="0" lang="tr-TR" altLang="en-US" sz="18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 SemiCondensed" panose="020B0502040204020203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hnschrift Light SemiCondensed" panose="020B0502040204020203" pitchFamily="34" charset="0"/>
              </a:rPr>
              <a:t>Modelin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 SemiCondensed" panose="020B0502040204020203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hnschrift Light SemiCondensed" panose="020B0502040204020203" pitchFamily="34" charset="0"/>
              </a:rPr>
              <a:t>üzerine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 SemiCondensed" panose="020B0502040204020203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hnschrift Light SemiCondensed" panose="020B0502040204020203" pitchFamily="34" charset="0"/>
              </a:rPr>
              <a:t>eklenen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 SemiCondensed" panose="020B0502040204020203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hnschrift Light SemiCondensed" panose="020B0502040204020203" pitchFamily="34" charset="0"/>
              </a:rPr>
              <a:t>sınıflandırma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 SemiCondensed" panose="020B0502040204020203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hnschrift Light SemiCondensed" panose="020B0502040204020203" pitchFamily="34" charset="0"/>
              </a:rPr>
              <a:t>katmanı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 SemiCondensed" panose="020B0502040204020203" pitchFamily="34" charset="0"/>
              </a:rPr>
              <a:t>,</a:t>
            </a:r>
            <a:endParaRPr kumimoji="0" lang="tr-TR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 Light SemiCondensed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 SemiCondensed" panose="020B0502040204020203" pitchFamily="34" charset="0"/>
              </a:rPr>
              <a:t>[CLS] token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hnschrift Light SemiCondensed" panose="020B0502040204020203" pitchFamily="34" charset="0"/>
              </a:rPr>
              <a:t>çıktısını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 SemiCondensed" panose="020B0502040204020203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hnschrift Light SemiCondensed" panose="020B0502040204020203" pitchFamily="34" charset="0"/>
              </a:rPr>
              <a:t>kullanarak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 SemiCondensed" panose="020B0502040204020203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hnschrift Light SemiCondensed" panose="020B0502040204020203" pitchFamily="34" charset="0"/>
              </a:rPr>
              <a:t>metni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 SemiCondensed" panose="020B0502040204020203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hnschrift Light SemiCondensed" panose="020B0502040204020203" pitchFamily="34" charset="0"/>
              </a:rPr>
              <a:t>ilgili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 SemiCondensed" panose="020B0502040204020203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hnschrift Light SemiCondensed" panose="020B0502040204020203" pitchFamily="34" charset="0"/>
              </a:rPr>
              <a:t>şikayet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 SemiCondensed" panose="020B0502040204020203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hnschrift Light SemiCondensed" panose="020B0502040204020203" pitchFamily="34" charset="0"/>
              </a:rPr>
              <a:t>sınıfına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 SemiCondensed" panose="020B0502040204020203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hnschrift Light SemiCondensed" panose="020B0502040204020203" pitchFamily="34" charset="0"/>
              </a:rPr>
              <a:t>atamaktadır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 SemiCondensed" panose="020B0502040204020203" pitchFamily="34" charset="0"/>
              </a:rPr>
              <a:t>. </a:t>
            </a:r>
            <a:r>
              <a:rPr lang="tr-TR" altLang="en-US" sz="1800" dirty="0">
                <a:latin typeface="Bahnschrift Light SemiCondensed" panose="020B0502040204020203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 SemiCondensed" panose="020B0502040204020203" pitchFamily="34" charset="0"/>
              </a:rPr>
              <a:t>Bu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hnschrift Light SemiCondensed" panose="020B0502040204020203" pitchFamily="34" charset="0"/>
              </a:rPr>
              <a:t>yapı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 SemiCondensed" panose="020B0502040204020203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hnschrift Light SemiCondensed" panose="020B0502040204020203" pitchFamily="34" charset="0"/>
              </a:rPr>
              <a:t>sayesinde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 SemiCondensed" panose="020B0502040204020203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hnschrift Light SemiCondensed" panose="020B0502040204020203" pitchFamily="34" charset="0"/>
              </a:rPr>
              <a:t>bağlamsal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 SemiCondensed" panose="020B0502040204020203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hnschrift Light SemiCondensed" panose="020B0502040204020203" pitchFamily="34" charset="0"/>
              </a:rPr>
              <a:t>ve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 SemiCondensed" panose="020B0502040204020203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hnschrift Light SemiCondensed" panose="020B0502040204020203" pitchFamily="34" charset="0"/>
              </a:rPr>
              <a:t>daha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 SemiCondensed" panose="020B0502040204020203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hnschrift Light SemiCondensed" panose="020B0502040204020203" pitchFamily="34" charset="0"/>
              </a:rPr>
              <a:t>doğru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 SemiCondensed" panose="020B0502040204020203" pitchFamily="34" charset="0"/>
              </a:rPr>
              <a:t> </a:t>
            </a:r>
            <a:endParaRPr kumimoji="0" lang="tr-TR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 Light SemiCondensed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hnschrift Light SemiCondensed" panose="020B0502040204020203" pitchFamily="34" charset="0"/>
              </a:rPr>
              <a:t>sınıflandırma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 SemiCondensed" panose="020B0502040204020203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hnschrift Light SemiCondensed" panose="020B0502040204020203" pitchFamily="34" charset="0"/>
              </a:rPr>
              <a:t>yapılabilmektedir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 SemiCondensed" panose="020B0502040204020203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736729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1024128" y="876162"/>
            <a:ext cx="9720072" cy="1499616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accent2">
                    <a:lumMod val="50000"/>
                  </a:schemeClr>
                </a:solidFill>
                <a:latin typeface="Bookman Old Style" panose="02050604050505020204" pitchFamily="18" charset="0"/>
              </a:rPr>
              <a:t>Model </a:t>
            </a:r>
            <a:r>
              <a:rPr lang="en-US" dirty="0" err="1">
                <a:solidFill>
                  <a:schemeClr val="accent2">
                    <a:lumMod val="50000"/>
                  </a:schemeClr>
                </a:solidFill>
                <a:latin typeface="Bookman Old Style" panose="02050604050505020204" pitchFamily="18" charset="0"/>
              </a:rPr>
              <a:t>Eğitimi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  <a:latin typeface="Bookman Old Style" panose="02050604050505020204" pitchFamily="18" charset="0"/>
              </a:rPr>
              <a:t> </a:t>
            </a:r>
            <a:r>
              <a:rPr lang="en-US" dirty="0" err="1">
                <a:solidFill>
                  <a:schemeClr val="accent2">
                    <a:lumMod val="50000"/>
                  </a:schemeClr>
                </a:solidFill>
                <a:latin typeface="Bookman Old Style" panose="02050604050505020204" pitchFamily="18" charset="0"/>
              </a:rPr>
              <a:t>ve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  <a:latin typeface="Bookman Old Style" panose="02050604050505020204" pitchFamily="18" charset="0"/>
              </a:rPr>
              <a:t> </a:t>
            </a:r>
            <a:r>
              <a:rPr lang="en-US" dirty="0" err="1">
                <a:solidFill>
                  <a:schemeClr val="accent2">
                    <a:lumMod val="50000"/>
                  </a:schemeClr>
                </a:solidFill>
                <a:latin typeface="Bookman Old Style" panose="02050604050505020204" pitchFamily="18" charset="0"/>
              </a:rPr>
              <a:t>Süreci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916063" y="2277687"/>
            <a:ext cx="9720073" cy="4023360"/>
          </a:xfrm>
        </p:spPr>
        <p:txBody>
          <a:bodyPr/>
          <a:lstStyle/>
          <a:p>
            <a:r>
              <a:rPr lang="tr-TR" dirty="0">
                <a:latin typeface="Bahnschrift Light SemiCondensed" panose="020B0502040204020203" pitchFamily="34" charset="0"/>
              </a:rPr>
              <a:t>  </a:t>
            </a:r>
            <a:r>
              <a:rPr lang="en-US" dirty="0">
                <a:latin typeface="Bahnschrift Light SemiCondensed" panose="020B0502040204020203" pitchFamily="34" charset="0"/>
              </a:rPr>
              <a:t>Model, </a:t>
            </a:r>
            <a:r>
              <a:rPr lang="en-US" dirty="0" err="1">
                <a:latin typeface="Bahnschrift Light SemiCondensed" panose="020B0502040204020203" pitchFamily="34" charset="0"/>
              </a:rPr>
              <a:t>önceden</a:t>
            </a:r>
            <a:r>
              <a:rPr lang="en-US" dirty="0">
                <a:latin typeface="Bahnschrift Light SemiCondensed" panose="020B0502040204020203" pitchFamily="34" charset="0"/>
              </a:rPr>
              <a:t> </a:t>
            </a:r>
            <a:r>
              <a:rPr lang="en-US" dirty="0" err="1">
                <a:latin typeface="Bahnschrift Light SemiCondensed" panose="020B0502040204020203" pitchFamily="34" charset="0"/>
              </a:rPr>
              <a:t>eğitilmiş</a:t>
            </a:r>
            <a:r>
              <a:rPr lang="en-US" dirty="0">
                <a:latin typeface="Bahnschrift Light SemiCondensed" panose="020B0502040204020203" pitchFamily="34" charset="0"/>
              </a:rPr>
              <a:t> BERT </a:t>
            </a:r>
            <a:r>
              <a:rPr lang="en-US" dirty="0" err="1">
                <a:latin typeface="Bahnschrift Light SemiCondensed" panose="020B0502040204020203" pitchFamily="34" charset="0"/>
              </a:rPr>
              <a:t>mimarisi</a:t>
            </a:r>
            <a:r>
              <a:rPr lang="en-US" dirty="0">
                <a:latin typeface="Bahnschrift Light SemiCondensed" panose="020B0502040204020203" pitchFamily="34" charset="0"/>
              </a:rPr>
              <a:t> </a:t>
            </a:r>
            <a:r>
              <a:rPr lang="en-US" dirty="0" err="1">
                <a:latin typeface="Bahnschrift Light SemiCondensed" panose="020B0502040204020203" pitchFamily="34" charset="0"/>
              </a:rPr>
              <a:t>üzerine</a:t>
            </a:r>
            <a:r>
              <a:rPr lang="en-US" dirty="0">
                <a:latin typeface="Bahnschrift Light SemiCondensed" panose="020B0502040204020203" pitchFamily="34" charset="0"/>
              </a:rPr>
              <a:t> </a:t>
            </a:r>
            <a:r>
              <a:rPr lang="en-US" b="1" dirty="0">
                <a:latin typeface="Bahnschrift Light SemiCondensed" panose="020B0502040204020203" pitchFamily="34" charset="0"/>
              </a:rPr>
              <a:t>fine-tuning</a:t>
            </a:r>
            <a:r>
              <a:rPr lang="en-US" dirty="0">
                <a:latin typeface="Bahnschrift Light SemiCondensed" panose="020B0502040204020203" pitchFamily="34" charset="0"/>
              </a:rPr>
              <a:t> </a:t>
            </a:r>
            <a:r>
              <a:rPr lang="en-US" dirty="0" err="1">
                <a:latin typeface="Bahnschrift Light SemiCondensed" panose="020B0502040204020203" pitchFamily="34" charset="0"/>
              </a:rPr>
              <a:t>uygulanarak</a:t>
            </a:r>
            <a:r>
              <a:rPr lang="en-US" dirty="0">
                <a:latin typeface="Bahnschrift Light SemiCondensed" panose="020B0502040204020203" pitchFamily="34" charset="0"/>
              </a:rPr>
              <a:t> </a:t>
            </a:r>
            <a:r>
              <a:rPr lang="en-US" dirty="0" err="1">
                <a:latin typeface="Bahnschrift Light SemiCondensed" panose="020B0502040204020203" pitchFamily="34" charset="0"/>
              </a:rPr>
              <a:t>müşteri</a:t>
            </a:r>
            <a:r>
              <a:rPr lang="en-US" dirty="0">
                <a:latin typeface="Bahnschrift Light SemiCondensed" panose="020B0502040204020203" pitchFamily="34" charset="0"/>
              </a:rPr>
              <a:t> </a:t>
            </a:r>
            <a:r>
              <a:rPr lang="en-US" dirty="0" err="1">
                <a:latin typeface="Bahnschrift Light SemiCondensed" panose="020B0502040204020203" pitchFamily="34" charset="0"/>
              </a:rPr>
              <a:t>şikayet</a:t>
            </a:r>
            <a:r>
              <a:rPr lang="en-US" dirty="0">
                <a:latin typeface="Bahnschrift Light SemiCondensed" panose="020B0502040204020203" pitchFamily="34" charset="0"/>
              </a:rPr>
              <a:t> </a:t>
            </a:r>
            <a:r>
              <a:rPr lang="en-US" dirty="0" err="1">
                <a:latin typeface="Bahnschrift Light SemiCondensed" panose="020B0502040204020203" pitchFamily="34" charset="0"/>
              </a:rPr>
              <a:t>veri</a:t>
            </a:r>
            <a:r>
              <a:rPr lang="en-US" dirty="0">
                <a:latin typeface="Bahnschrift Light SemiCondensed" panose="020B0502040204020203" pitchFamily="34" charset="0"/>
              </a:rPr>
              <a:t> </a:t>
            </a:r>
            <a:r>
              <a:rPr lang="en-US" dirty="0" err="1">
                <a:latin typeface="Bahnschrift Light SemiCondensed" panose="020B0502040204020203" pitchFamily="34" charset="0"/>
              </a:rPr>
              <a:t>setine</a:t>
            </a:r>
            <a:r>
              <a:rPr lang="en-US" dirty="0">
                <a:latin typeface="Bahnschrift Light SemiCondensed" panose="020B0502040204020203" pitchFamily="34" charset="0"/>
              </a:rPr>
              <a:t> </a:t>
            </a:r>
            <a:r>
              <a:rPr lang="en-US" dirty="0" err="1">
                <a:latin typeface="Bahnschrift Light SemiCondensed" panose="020B0502040204020203" pitchFamily="34" charset="0"/>
              </a:rPr>
              <a:t>uyarlanmıştır</a:t>
            </a:r>
            <a:r>
              <a:rPr lang="en-US" dirty="0">
                <a:latin typeface="Bahnschrift Light SemiCondensed" panose="020B0502040204020203" pitchFamily="34" charset="0"/>
              </a:rPr>
              <a:t>. </a:t>
            </a:r>
            <a:r>
              <a:rPr lang="en-US" dirty="0" err="1">
                <a:latin typeface="Bahnschrift Light SemiCondensed" panose="020B0502040204020203" pitchFamily="34" charset="0"/>
              </a:rPr>
              <a:t>Böylece</a:t>
            </a:r>
            <a:r>
              <a:rPr lang="en-US" dirty="0">
                <a:latin typeface="Bahnschrift Light SemiCondensed" panose="020B0502040204020203" pitchFamily="34" charset="0"/>
              </a:rPr>
              <a:t> model, </a:t>
            </a:r>
            <a:r>
              <a:rPr lang="en-US" dirty="0" err="1">
                <a:latin typeface="Bahnschrift Light SemiCondensed" panose="020B0502040204020203" pitchFamily="34" charset="0"/>
              </a:rPr>
              <a:t>genel</a:t>
            </a:r>
            <a:r>
              <a:rPr lang="en-US" dirty="0">
                <a:latin typeface="Bahnschrift Light SemiCondensed" panose="020B0502040204020203" pitchFamily="34" charset="0"/>
              </a:rPr>
              <a:t> </a:t>
            </a:r>
            <a:r>
              <a:rPr lang="en-US" dirty="0" err="1">
                <a:latin typeface="Bahnschrift Light SemiCondensed" panose="020B0502040204020203" pitchFamily="34" charset="0"/>
              </a:rPr>
              <a:t>dil</a:t>
            </a:r>
            <a:r>
              <a:rPr lang="en-US" dirty="0">
                <a:latin typeface="Bahnschrift Light SemiCondensed" panose="020B0502040204020203" pitchFamily="34" charset="0"/>
              </a:rPr>
              <a:t> </a:t>
            </a:r>
            <a:r>
              <a:rPr lang="en-US" dirty="0" err="1">
                <a:latin typeface="Bahnschrift Light SemiCondensed" panose="020B0502040204020203" pitchFamily="34" charset="0"/>
              </a:rPr>
              <a:t>bilgisini</a:t>
            </a:r>
            <a:r>
              <a:rPr lang="en-US" dirty="0">
                <a:latin typeface="Bahnschrift Light SemiCondensed" panose="020B0502040204020203" pitchFamily="34" charset="0"/>
              </a:rPr>
              <a:t> </a:t>
            </a:r>
            <a:r>
              <a:rPr lang="en-US" dirty="0" err="1">
                <a:latin typeface="Bahnschrift Light SemiCondensed" panose="020B0502040204020203" pitchFamily="34" charset="0"/>
              </a:rPr>
              <a:t>korurken</a:t>
            </a:r>
            <a:r>
              <a:rPr lang="en-US" dirty="0">
                <a:latin typeface="Bahnschrift Light SemiCondensed" panose="020B0502040204020203" pitchFamily="34" charset="0"/>
              </a:rPr>
              <a:t> </a:t>
            </a:r>
            <a:r>
              <a:rPr lang="en-US" dirty="0" err="1">
                <a:latin typeface="Bahnschrift Light SemiCondensed" panose="020B0502040204020203" pitchFamily="34" charset="0"/>
              </a:rPr>
              <a:t>görev</a:t>
            </a:r>
            <a:r>
              <a:rPr lang="en-US" dirty="0">
                <a:latin typeface="Bahnschrift Light SemiCondensed" panose="020B0502040204020203" pitchFamily="34" charset="0"/>
              </a:rPr>
              <a:t> </a:t>
            </a:r>
            <a:r>
              <a:rPr lang="en-US" dirty="0" err="1">
                <a:latin typeface="Bahnschrift Light SemiCondensed" panose="020B0502040204020203" pitchFamily="34" charset="0"/>
              </a:rPr>
              <a:t>özelinde</a:t>
            </a:r>
            <a:r>
              <a:rPr lang="en-US" dirty="0">
                <a:latin typeface="Bahnschrift Light SemiCondensed" panose="020B0502040204020203" pitchFamily="34" charset="0"/>
              </a:rPr>
              <a:t> </a:t>
            </a:r>
            <a:r>
              <a:rPr lang="en-US" dirty="0" err="1">
                <a:latin typeface="Bahnschrift Light SemiCondensed" panose="020B0502040204020203" pitchFamily="34" charset="0"/>
              </a:rPr>
              <a:t>öğrenme</a:t>
            </a:r>
            <a:r>
              <a:rPr lang="en-US" dirty="0">
                <a:latin typeface="Bahnschrift Light SemiCondensed" panose="020B0502040204020203" pitchFamily="34" charset="0"/>
              </a:rPr>
              <a:t> </a:t>
            </a:r>
            <a:r>
              <a:rPr lang="en-US" dirty="0" err="1">
                <a:latin typeface="Bahnschrift Light SemiCondensed" panose="020B0502040204020203" pitchFamily="34" charset="0"/>
              </a:rPr>
              <a:t>gerçekleştirmiştir</a:t>
            </a:r>
            <a:r>
              <a:rPr lang="en-US" dirty="0">
                <a:latin typeface="Bahnschrift Light SemiCondensed" panose="020B0502040204020203" pitchFamily="34" charset="0"/>
              </a:rPr>
              <a:t>.</a:t>
            </a:r>
          </a:p>
          <a:p>
            <a:r>
              <a:rPr lang="tr-TR" dirty="0">
                <a:latin typeface="Bahnschrift Light SemiCondensed" panose="020B0502040204020203" pitchFamily="34" charset="0"/>
              </a:rPr>
              <a:t>  </a:t>
            </a:r>
            <a:r>
              <a:rPr lang="en-US" dirty="0" err="1">
                <a:latin typeface="Bahnschrift Light SemiCondensed" panose="020B0502040204020203" pitchFamily="34" charset="0"/>
              </a:rPr>
              <a:t>Eğitim</a:t>
            </a:r>
            <a:r>
              <a:rPr lang="en-US" dirty="0">
                <a:latin typeface="Bahnschrift Light SemiCondensed" panose="020B0502040204020203" pitchFamily="34" charset="0"/>
              </a:rPr>
              <a:t> </a:t>
            </a:r>
            <a:r>
              <a:rPr lang="en-US" dirty="0" err="1">
                <a:latin typeface="Bahnschrift Light SemiCondensed" panose="020B0502040204020203" pitchFamily="34" charset="0"/>
              </a:rPr>
              <a:t>sürecinde</a:t>
            </a:r>
            <a:r>
              <a:rPr lang="en-US" dirty="0">
                <a:latin typeface="Bahnschrift Light SemiCondensed" panose="020B0502040204020203" pitchFamily="34" charset="0"/>
              </a:rPr>
              <a:t> </a:t>
            </a:r>
            <a:r>
              <a:rPr lang="en-US" dirty="0" err="1">
                <a:latin typeface="Bahnschrift Light SemiCondensed" panose="020B0502040204020203" pitchFamily="34" charset="0"/>
              </a:rPr>
              <a:t>kayıp</a:t>
            </a:r>
            <a:r>
              <a:rPr lang="en-US" dirty="0">
                <a:latin typeface="Bahnschrift Light SemiCondensed" panose="020B0502040204020203" pitchFamily="34" charset="0"/>
              </a:rPr>
              <a:t> </a:t>
            </a:r>
            <a:r>
              <a:rPr lang="en-US" dirty="0" err="1">
                <a:latin typeface="Bahnschrift Light SemiCondensed" panose="020B0502040204020203" pitchFamily="34" charset="0"/>
              </a:rPr>
              <a:t>fonksiyonu</a:t>
            </a:r>
            <a:r>
              <a:rPr lang="en-US" dirty="0">
                <a:latin typeface="Bahnschrift Light SemiCondensed" panose="020B0502040204020203" pitchFamily="34" charset="0"/>
              </a:rPr>
              <a:t> </a:t>
            </a:r>
            <a:r>
              <a:rPr lang="en-US" dirty="0" err="1">
                <a:latin typeface="Bahnschrift Light SemiCondensed" panose="020B0502040204020203" pitchFamily="34" charset="0"/>
              </a:rPr>
              <a:t>olarak</a:t>
            </a:r>
            <a:r>
              <a:rPr lang="en-US" dirty="0">
                <a:latin typeface="Bahnschrift Light SemiCondensed" panose="020B0502040204020203" pitchFamily="34" charset="0"/>
              </a:rPr>
              <a:t> </a:t>
            </a:r>
            <a:r>
              <a:rPr lang="en-US" b="1" dirty="0">
                <a:latin typeface="Bahnschrift Light SemiCondensed" panose="020B0502040204020203" pitchFamily="34" charset="0"/>
              </a:rPr>
              <a:t>Cross-Entropy Loss</a:t>
            </a:r>
            <a:r>
              <a:rPr lang="en-US" dirty="0">
                <a:latin typeface="Bahnschrift Light SemiCondensed" panose="020B0502040204020203" pitchFamily="34" charset="0"/>
              </a:rPr>
              <a:t>, </a:t>
            </a:r>
            <a:r>
              <a:rPr lang="en-US" dirty="0" err="1">
                <a:latin typeface="Bahnschrift Light SemiCondensed" panose="020B0502040204020203" pitchFamily="34" charset="0"/>
              </a:rPr>
              <a:t>optimizasyon</a:t>
            </a:r>
            <a:r>
              <a:rPr lang="en-US" dirty="0">
                <a:latin typeface="Bahnschrift Light SemiCondensed" panose="020B0502040204020203" pitchFamily="34" charset="0"/>
              </a:rPr>
              <a:t> </a:t>
            </a:r>
            <a:r>
              <a:rPr lang="en-US" dirty="0" err="1">
                <a:latin typeface="Bahnschrift Light SemiCondensed" panose="020B0502040204020203" pitchFamily="34" charset="0"/>
              </a:rPr>
              <a:t>algoritması</a:t>
            </a:r>
            <a:r>
              <a:rPr lang="en-US" dirty="0">
                <a:latin typeface="Bahnschrift Light SemiCondensed" panose="020B0502040204020203" pitchFamily="34" charset="0"/>
              </a:rPr>
              <a:t> </a:t>
            </a:r>
            <a:r>
              <a:rPr lang="en-US" dirty="0" err="1">
                <a:latin typeface="Bahnschrift Light SemiCondensed" panose="020B0502040204020203" pitchFamily="34" charset="0"/>
              </a:rPr>
              <a:t>olarak</a:t>
            </a:r>
            <a:r>
              <a:rPr lang="en-US" dirty="0">
                <a:latin typeface="Bahnschrift Light SemiCondensed" panose="020B0502040204020203" pitchFamily="34" charset="0"/>
              </a:rPr>
              <a:t> </a:t>
            </a:r>
            <a:r>
              <a:rPr lang="en-US" dirty="0" err="1">
                <a:latin typeface="Bahnschrift Light SemiCondensed" panose="020B0502040204020203" pitchFamily="34" charset="0"/>
              </a:rPr>
              <a:t>ise</a:t>
            </a:r>
            <a:r>
              <a:rPr lang="en-US" dirty="0">
                <a:latin typeface="Bahnschrift Light SemiCondensed" panose="020B0502040204020203" pitchFamily="34" charset="0"/>
              </a:rPr>
              <a:t> </a:t>
            </a:r>
            <a:r>
              <a:rPr lang="en-US" b="1" dirty="0" err="1">
                <a:latin typeface="Bahnschrift Light SemiCondensed" panose="020B0502040204020203" pitchFamily="34" charset="0"/>
              </a:rPr>
              <a:t>AdamW</a:t>
            </a:r>
            <a:r>
              <a:rPr lang="en-US" dirty="0">
                <a:latin typeface="Bahnschrift Light SemiCondensed" panose="020B0502040204020203" pitchFamily="34" charset="0"/>
              </a:rPr>
              <a:t> </a:t>
            </a:r>
            <a:r>
              <a:rPr lang="en-US" dirty="0" err="1">
                <a:latin typeface="Bahnschrift Light SemiCondensed" panose="020B0502040204020203" pitchFamily="34" charset="0"/>
              </a:rPr>
              <a:t>kullanılmıştır</a:t>
            </a:r>
            <a:r>
              <a:rPr lang="en-US" dirty="0">
                <a:latin typeface="Bahnschrift Light SemiCondensed" panose="020B0502040204020203" pitchFamily="34" charset="0"/>
              </a:rPr>
              <a:t>. Bu </a:t>
            </a:r>
            <a:r>
              <a:rPr lang="en-US" dirty="0" err="1">
                <a:latin typeface="Bahnschrift Light SemiCondensed" panose="020B0502040204020203" pitchFamily="34" charset="0"/>
              </a:rPr>
              <a:t>sayede</a:t>
            </a:r>
            <a:r>
              <a:rPr lang="en-US" dirty="0">
                <a:latin typeface="Bahnschrift Light SemiCondensed" panose="020B0502040204020203" pitchFamily="34" charset="0"/>
              </a:rPr>
              <a:t> </a:t>
            </a:r>
            <a:r>
              <a:rPr lang="en-US" dirty="0" err="1">
                <a:latin typeface="Bahnschrift Light SemiCondensed" panose="020B0502040204020203" pitchFamily="34" charset="0"/>
              </a:rPr>
              <a:t>daha</a:t>
            </a:r>
            <a:r>
              <a:rPr lang="en-US" dirty="0">
                <a:latin typeface="Bahnschrift Light SemiCondensed" panose="020B0502040204020203" pitchFamily="34" charset="0"/>
              </a:rPr>
              <a:t> </a:t>
            </a:r>
            <a:r>
              <a:rPr lang="en-US" dirty="0" err="1">
                <a:latin typeface="Bahnschrift Light SemiCondensed" panose="020B0502040204020203" pitchFamily="34" charset="0"/>
              </a:rPr>
              <a:t>stabil</a:t>
            </a:r>
            <a:r>
              <a:rPr lang="en-US" dirty="0">
                <a:latin typeface="Bahnschrift Light SemiCondensed" panose="020B0502040204020203" pitchFamily="34" charset="0"/>
              </a:rPr>
              <a:t> </a:t>
            </a:r>
            <a:r>
              <a:rPr lang="en-US" dirty="0" err="1">
                <a:latin typeface="Bahnschrift Light SemiCondensed" panose="020B0502040204020203" pitchFamily="34" charset="0"/>
              </a:rPr>
              <a:t>ve</a:t>
            </a:r>
            <a:r>
              <a:rPr lang="en-US" dirty="0">
                <a:latin typeface="Bahnschrift Light SemiCondensed" panose="020B0502040204020203" pitchFamily="34" charset="0"/>
              </a:rPr>
              <a:t> </a:t>
            </a:r>
            <a:r>
              <a:rPr lang="en-US" dirty="0" err="1">
                <a:latin typeface="Bahnschrift Light SemiCondensed" panose="020B0502040204020203" pitchFamily="34" charset="0"/>
              </a:rPr>
              <a:t>hızlı</a:t>
            </a:r>
            <a:r>
              <a:rPr lang="en-US" dirty="0">
                <a:latin typeface="Bahnschrift Light SemiCondensed" panose="020B0502040204020203" pitchFamily="34" charset="0"/>
              </a:rPr>
              <a:t> </a:t>
            </a:r>
            <a:r>
              <a:rPr lang="en-US" dirty="0" err="1">
                <a:latin typeface="Bahnschrift Light SemiCondensed" panose="020B0502040204020203" pitchFamily="34" charset="0"/>
              </a:rPr>
              <a:t>bir</a:t>
            </a:r>
            <a:r>
              <a:rPr lang="en-US" dirty="0">
                <a:latin typeface="Bahnschrift Light SemiCondensed" panose="020B0502040204020203" pitchFamily="34" charset="0"/>
              </a:rPr>
              <a:t> </a:t>
            </a:r>
            <a:r>
              <a:rPr lang="en-US" dirty="0" err="1">
                <a:latin typeface="Bahnschrift Light SemiCondensed" panose="020B0502040204020203" pitchFamily="34" charset="0"/>
              </a:rPr>
              <a:t>öğrenme</a:t>
            </a:r>
            <a:r>
              <a:rPr lang="en-US" dirty="0">
                <a:latin typeface="Bahnschrift Light SemiCondensed" panose="020B0502040204020203" pitchFamily="34" charset="0"/>
              </a:rPr>
              <a:t> </a:t>
            </a:r>
            <a:r>
              <a:rPr lang="en-US" dirty="0" err="1">
                <a:latin typeface="Bahnschrift Light SemiCondensed" panose="020B0502040204020203" pitchFamily="34" charset="0"/>
              </a:rPr>
              <a:t>süreci</a:t>
            </a:r>
            <a:r>
              <a:rPr lang="en-US" dirty="0">
                <a:latin typeface="Bahnschrift Light SemiCondensed" panose="020B0502040204020203" pitchFamily="34" charset="0"/>
              </a:rPr>
              <a:t> </a:t>
            </a:r>
            <a:r>
              <a:rPr lang="en-US" dirty="0" err="1">
                <a:latin typeface="Bahnschrift Light SemiCondensed" panose="020B0502040204020203" pitchFamily="34" charset="0"/>
              </a:rPr>
              <a:t>elde</a:t>
            </a:r>
            <a:r>
              <a:rPr lang="en-US" dirty="0">
                <a:latin typeface="Bahnschrift Light SemiCondensed" panose="020B0502040204020203" pitchFamily="34" charset="0"/>
              </a:rPr>
              <a:t> </a:t>
            </a:r>
            <a:r>
              <a:rPr lang="en-US" dirty="0" err="1">
                <a:latin typeface="Bahnschrift Light SemiCondensed" panose="020B0502040204020203" pitchFamily="34" charset="0"/>
              </a:rPr>
              <a:t>edilmiştir</a:t>
            </a:r>
            <a:r>
              <a:rPr lang="en-US" dirty="0">
                <a:latin typeface="Bahnschrift Light SemiCondensed" panose="020B0502040204020203" pitchFamily="34" charset="0"/>
              </a:rPr>
              <a:t>.</a:t>
            </a:r>
          </a:p>
          <a:p>
            <a:r>
              <a:rPr lang="tr-TR" dirty="0">
                <a:latin typeface="Bahnschrift Light SemiCondensed" panose="020B0502040204020203" pitchFamily="34" charset="0"/>
              </a:rPr>
              <a:t>  </a:t>
            </a:r>
            <a:r>
              <a:rPr lang="en-US" dirty="0" err="1">
                <a:latin typeface="Bahnschrift Light SemiCondensed" panose="020B0502040204020203" pitchFamily="34" charset="0"/>
              </a:rPr>
              <a:t>Ayrıca</a:t>
            </a:r>
            <a:r>
              <a:rPr lang="en-US" dirty="0">
                <a:latin typeface="Bahnschrift Light SemiCondensed" panose="020B0502040204020203" pitchFamily="34" charset="0"/>
              </a:rPr>
              <a:t> </a:t>
            </a:r>
            <a:r>
              <a:rPr lang="en-US" dirty="0" err="1">
                <a:latin typeface="Bahnschrift Light SemiCondensed" panose="020B0502040204020203" pitchFamily="34" charset="0"/>
              </a:rPr>
              <a:t>modelin</a:t>
            </a:r>
            <a:r>
              <a:rPr lang="en-US" dirty="0">
                <a:latin typeface="Bahnschrift Light SemiCondensed" panose="020B0502040204020203" pitchFamily="34" charset="0"/>
              </a:rPr>
              <a:t> overfitting </a:t>
            </a:r>
            <a:r>
              <a:rPr lang="en-US" dirty="0" err="1">
                <a:latin typeface="Bahnschrift Light SemiCondensed" panose="020B0502040204020203" pitchFamily="34" charset="0"/>
              </a:rPr>
              <a:t>yapmasını</a:t>
            </a:r>
            <a:r>
              <a:rPr lang="en-US" dirty="0">
                <a:latin typeface="Bahnschrift Light SemiCondensed" panose="020B0502040204020203" pitchFamily="34" charset="0"/>
              </a:rPr>
              <a:t> </a:t>
            </a:r>
            <a:r>
              <a:rPr lang="en-US" dirty="0" err="1">
                <a:latin typeface="Bahnschrift Light SemiCondensed" panose="020B0502040204020203" pitchFamily="34" charset="0"/>
              </a:rPr>
              <a:t>önlemek</a:t>
            </a:r>
            <a:r>
              <a:rPr lang="en-US" dirty="0">
                <a:latin typeface="Bahnschrift Light SemiCondensed" panose="020B0502040204020203" pitchFamily="34" charset="0"/>
              </a:rPr>
              <a:t> </a:t>
            </a:r>
            <a:r>
              <a:rPr lang="en-US" dirty="0" err="1">
                <a:latin typeface="Bahnschrift Light SemiCondensed" panose="020B0502040204020203" pitchFamily="34" charset="0"/>
              </a:rPr>
              <a:t>için</a:t>
            </a:r>
            <a:r>
              <a:rPr lang="en-US" dirty="0">
                <a:latin typeface="Bahnschrift Light SemiCondensed" panose="020B0502040204020203" pitchFamily="34" charset="0"/>
              </a:rPr>
              <a:t> </a:t>
            </a:r>
            <a:r>
              <a:rPr lang="en-US" b="1" dirty="0">
                <a:latin typeface="Bahnschrift Light SemiCondensed" panose="020B0502040204020203" pitchFamily="34" charset="0"/>
              </a:rPr>
              <a:t>Early Stopping</a:t>
            </a:r>
            <a:r>
              <a:rPr lang="en-US" dirty="0">
                <a:latin typeface="Bahnschrift Light SemiCondensed" panose="020B0502040204020203" pitchFamily="34" charset="0"/>
              </a:rPr>
              <a:t> </a:t>
            </a:r>
            <a:r>
              <a:rPr lang="en-US" dirty="0" err="1">
                <a:latin typeface="Bahnschrift Light SemiCondensed" panose="020B0502040204020203" pitchFamily="34" charset="0"/>
              </a:rPr>
              <a:t>uygulanmış</a:t>
            </a:r>
            <a:r>
              <a:rPr lang="en-US" dirty="0">
                <a:latin typeface="Bahnschrift Light SemiCondensed" panose="020B0502040204020203" pitchFamily="34" charset="0"/>
              </a:rPr>
              <a:t> </a:t>
            </a:r>
            <a:r>
              <a:rPr lang="en-US" dirty="0" err="1">
                <a:latin typeface="Bahnschrift Light SemiCondensed" panose="020B0502040204020203" pitchFamily="34" charset="0"/>
              </a:rPr>
              <a:t>ve</a:t>
            </a:r>
            <a:r>
              <a:rPr lang="en-US" dirty="0">
                <a:latin typeface="Bahnschrift Light SemiCondensed" panose="020B0502040204020203" pitchFamily="34" charset="0"/>
              </a:rPr>
              <a:t> </a:t>
            </a:r>
            <a:r>
              <a:rPr lang="en-US" dirty="0" err="1">
                <a:latin typeface="Bahnschrift Light SemiCondensed" panose="020B0502040204020203" pitchFamily="34" charset="0"/>
              </a:rPr>
              <a:t>doğrulama</a:t>
            </a:r>
            <a:r>
              <a:rPr lang="en-US" dirty="0">
                <a:latin typeface="Bahnschrift Light SemiCondensed" panose="020B0502040204020203" pitchFamily="34" charset="0"/>
              </a:rPr>
              <a:t> </a:t>
            </a:r>
            <a:r>
              <a:rPr lang="en-US" dirty="0" err="1">
                <a:latin typeface="Bahnschrift Light SemiCondensed" panose="020B0502040204020203" pitchFamily="34" charset="0"/>
              </a:rPr>
              <a:t>kaybı</a:t>
            </a:r>
            <a:r>
              <a:rPr lang="en-US" dirty="0">
                <a:latin typeface="Bahnschrift Light SemiCondensed" panose="020B0502040204020203" pitchFamily="34" charset="0"/>
              </a:rPr>
              <a:t> </a:t>
            </a:r>
            <a:r>
              <a:rPr lang="en-US" dirty="0" err="1">
                <a:latin typeface="Bahnschrift Light SemiCondensed" panose="020B0502040204020203" pitchFamily="34" charset="0"/>
              </a:rPr>
              <a:t>iyileşmediğinde</a:t>
            </a:r>
            <a:r>
              <a:rPr lang="en-US" dirty="0">
                <a:latin typeface="Bahnschrift Light SemiCondensed" panose="020B0502040204020203" pitchFamily="34" charset="0"/>
              </a:rPr>
              <a:t> </a:t>
            </a:r>
            <a:r>
              <a:rPr lang="en-US" dirty="0" err="1">
                <a:latin typeface="Bahnschrift Light SemiCondensed" panose="020B0502040204020203" pitchFamily="34" charset="0"/>
              </a:rPr>
              <a:t>eğitim</a:t>
            </a:r>
            <a:r>
              <a:rPr lang="en-US" dirty="0">
                <a:latin typeface="Bahnschrift Light SemiCondensed" panose="020B0502040204020203" pitchFamily="34" charset="0"/>
              </a:rPr>
              <a:t> </a:t>
            </a:r>
            <a:r>
              <a:rPr lang="en-US" dirty="0" err="1">
                <a:latin typeface="Bahnschrift Light SemiCondensed" panose="020B0502040204020203" pitchFamily="34" charset="0"/>
              </a:rPr>
              <a:t>otomatik</a:t>
            </a:r>
            <a:r>
              <a:rPr lang="en-US" dirty="0">
                <a:latin typeface="Bahnschrift Light SemiCondensed" panose="020B0502040204020203" pitchFamily="34" charset="0"/>
              </a:rPr>
              <a:t> </a:t>
            </a:r>
            <a:r>
              <a:rPr lang="en-US" dirty="0" err="1">
                <a:latin typeface="Bahnschrift Light SemiCondensed" panose="020B0502040204020203" pitchFamily="34" charset="0"/>
              </a:rPr>
              <a:t>olarak</a:t>
            </a:r>
            <a:r>
              <a:rPr lang="en-US" dirty="0">
                <a:latin typeface="Bahnschrift Light SemiCondensed" panose="020B0502040204020203" pitchFamily="34" charset="0"/>
              </a:rPr>
              <a:t> </a:t>
            </a:r>
            <a:r>
              <a:rPr lang="en-US" dirty="0" err="1">
                <a:latin typeface="Bahnschrift Light SemiCondensed" panose="020B0502040204020203" pitchFamily="34" charset="0"/>
              </a:rPr>
              <a:t>durdurulmuştur</a:t>
            </a:r>
            <a:r>
              <a:rPr lang="en-US" dirty="0">
                <a:latin typeface="Bahnschrift Light SemiCondensed" panose="020B0502040204020203" pitchFamily="34" charset="0"/>
              </a:rPr>
              <a:t>. </a:t>
            </a:r>
            <a:r>
              <a:rPr lang="en-US" dirty="0" err="1">
                <a:latin typeface="Bahnschrift Light SemiCondensed" panose="020B0502040204020203" pitchFamily="34" charset="0"/>
              </a:rPr>
              <a:t>Öğrenme</a:t>
            </a:r>
            <a:r>
              <a:rPr lang="en-US" dirty="0">
                <a:latin typeface="Bahnschrift Light SemiCondensed" panose="020B0502040204020203" pitchFamily="34" charset="0"/>
              </a:rPr>
              <a:t> </a:t>
            </a:r>
            <a:r>
              <a:rPr lang="en-US" dirty="0" err="1">
                <a:latin typeface="Bahnschrift Light SemiCondensed" panose="020B0502040204020203" pitchFamily="34" charset="0"/>
              </a:rPr>
              <a:t>oranı</a:t>
            </a:r>
            <a:r>
              <a:rPr lang="en-US" dirty="0">
                <a:latin typeface="Bahnschrift Light SemiCondensed" panose="020B0502040204020203" pitchFamily="34" charset="0"/>
              </a:rPr>
              <a:t> da </a:t>
            </a:r>
            <a:r>
              <a:rPr lang="en-US" dirty="0" err="1">
                <a:latin typeface="Bahnschrift Light SemiCondensed" panose="020B0502040204020203" pitchFamily="34" charset="0"/>
              </a:rPr>
              <a:t>eğitim</a:t>
            </a:r>
            <a:r>
              <a:rPr lang="en-US" dirty="0">
                <a:latin typeface="Bahnschrift Light SemiCondensed" panose="020B0502040204020203" pitchFamily="34" charset="0"/>
              </a:rPr>
              <a:t> </a:t>
            </a:r>
            <a:r>
              <a:rPr lang="en-US" dirty="0" err="1">
                <a:latin typeface="Bahnschrift Light SemiCondensed" panose="020B0502040204020203" pitchFamily="34" charset="0"/>
              </a:rPr>
              <a:t>boyunca</a:t>
            </a:r>
            <a:r>
              <a:rPr lang="en-US" dirty="0">
                <a:latin typeface="Bahnschrift Light SemiCondensed" panose="020B0502040204020203" pitchFamily="34" charset="0"/>
              </a:rPr>
              <a:t> </a:t>
            </a:r>
            <a:r>
              <a:rPr lang="en-US" dirty="0" err="1">
                <a:latin typeface="Bahnschrift Light SemiCondensed" panose="020B0502040204020203" pitchFamily="34" charset="0"/>
              </a:rPr>
              <a:t>kademeli</a:t>
            </a:r>
            <a:r>
              <a:rPr lang="en-US" dirty="0">
                <a:latin typeface="Bahnschrift Light SemiCondensed" panose="020B0502040204020203" pitchFamily="34" charset="0"/>
              </a:rPr>
              <a:t> </a:t>
            </a:r>
            <a:r>
              <a:rPr lang="en-US" dirty="0" err="1">
                <a:latin typeface="Bahnschrift Light SemiCondensed" panose="020B0502040204020203" pitchFamily="34" charset="0"/>
              </a:rPr>
              <a:t>olarak</a:t>
            </a:r>
            <a:r>
              <a:rPr lang="en-US" dirty="0">
                <a:latin typeface="Bahnschrift Light SemiCondensed" panose="020B0502040204020203" pitchFamily="34" charset="0"/>
              </a:rPr>
              <a:t> </a:t>
            </a:r>
            <a:r>
              <a:rPr lang="en-US" dirty="0" err="1">
                <a:latin typeface="Bahnschrift Light SemiCondensed" panose="020B0502040204020203" pitchFamily="34" charset="0"/>
              </a:rPr>
              <a:t>azaltılarak</a:t>
            </a:r>
            <a:r>
              <a:rPr lang="en-US" dirty="0">
                <a:latin typeface="Bahnschrift Light SemiCondensed" panose="020B0502040204020203" pitchFamily="34" charset="0"/>
              </a:rPr>
              <a:t> </a:t>
            </a:r>
            <a:r>
              <a:rPr lang="en-US" dirty="0" err="1">
                <a:latin typeface="Bahnschrift Light SemiCondensed" panose="020B0502040204020203" pitchFamily="34" charset="0"/>
              </a:rPr>
              <a:t>modelin</a:t>
            </a:r>
            <a:r>
              <a:rPr lang="en-US" dirty="0">
                <a:latin typeface="Bahnschrift Light SemiCondensed" panose="020B0502040204020203" pitchFamily="34" charset="0"/>
              </a:rPr>
              <a:t> </a:t>
            </a:r>
            <a:r>
              <a:rPr lang="en-US" dirty="0" err="1">
                <a:latin typeface="Bahnschrift Light SemiCondensed" panose="020B0502040204020203" pitchFamily="34" charset="0"/>
              </a:rPr>
              <a:t>daha</a:t>
            </a:r>
            <a:r>
              <a:rPr lang="en-US" dirty="0">
                <a:latin typeface="Bahnschrift Light SemiCondensed" panose="020B0502040204020203" pitchFamily="34" charset="0"/>
              </a:rPr>
              <a:t> </a:t>
            </a:r>
            <a:r>
              <a:rPr lang="en-US" dirty="0" err="1">
                <a:latin typeface="Bahnschrift Light SemiCondensed" panose="020B0502040204020203" pitchFamily="34" charset="0"/>
              </a:rPr>
              <a:t>kararlı</a:t>
            </a:r>
            <a:r>
              <a:rPr lang="en-US" dirty="0">
                <a:latin typeface="Bahnschrift Light SemiCondensed" panose="020B0502040204020203" pitchFamily="34" charset="0"/>
              </a:rPr>
              <a:t> </a:t>
            </a:r>
            <a:r>
              <a:rPr lang="en-US" dirty="0" err="1">
                <a:latin typeface="Bahnschrift Light SemiCondensed" panose="020B0502040204020203" pitchFamily="34" charset="0"/>
              </a:rPr>
              <a:t>öğrenmesi</a:t>
            </a:r>
            <a:r>
              <a:rPr lang="en-US" dirty="0">
                <a:latin typeface="Bahnschrift Light SemiCondensed" panose="020B0502040204020203" pitchFamily="34" charset="0"/>
              </a:rPr>
              <a:t> </a:t>
            </a:r>
            <a:r>
              <a:rPr lang="en-US" dirty="0" err="1">
                <a:latin typeface="Bahnschrift Light SemiCondensed" panose="020B0502040204020203" pitchFamily="34" charset="0"/>
              </a:rPr>
              <a:t>sağlanmıştır</a:t>
            </a:r>
            <a:r>
              <a:rPr lang="en-US" dirty="0">
                <a:latin typeface="Bahnschrift Light SemiCondensed" panose="020B0502040204020203" pitchFamily="34" charset="0"/>
              </a:rPr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09842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sz="4400" dirty="0">
                <a:solidFill>
                  <a:schemeClr val="accent2">
                    <a:lumMod val="50000"/>
                  </a:schemeClr>
                </a:solidFill>
                <a:latin typeface="Bookman Old Style" panose="02050604050505020204" pitchFamily="18" charset="0"/>
              </a:rPr>
              <a:t>Sonuçlar ve performans</a:t>
            </a:r>
            <a:endParaRPr lang="en-US" sz="4400" dirty="0">
              <a:solidFill>
                <a:schemeClr val="accent2">
                  <a:lumMod val="50000"/>
                </a:schemeClr>
              </a:solidFill>
              <a:latin typeface="Bookman Old Style" panose="02050604050505020204" pitchFamily="18" charset="0"/>
            </a:endParaRP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1024127" y="1991294"/>
            <a:ext cx="9720073" cy="4023360"/>
          </a:xfrm>
        </p:spPr>
        <p:txBody>
          <a:bodyPr/>
          <a:lstStyle/>
          <a:p>
            <a:r>
              <a:rPr lang="en-US" sz="1800" dirty="0">
                <a:latin typeface="Bahnschrift Light" panose="020B0502040204020203" pitchFamily="34" charset="0"/>
              </a:rPr>
              <a:t>  </a:t>
            </a:r>
            <a:r>
              <a:rPr lang="en-US" sz="1800" dirty="0" err="1">
                <a:latin typeface="Bahnschrift Light" panose="020B0502040204020203" pitchFamily="34" charset="0"/>
              </a:rPr>
              <a:t>Modelin</a:t>
            </a:r>
            <a:r>
              <a:rPr lang="en-US" sz="1800" dirty="0">
                <a:latin typeface="Bahnschrift Light" panose="020B0502040204020203" pitchFamily="34" charset="0"/>
              </a:rPr>
              <a:t> </a:t>
            </a:r>
            <a:r>
              <a:rPr lang="en-US" sz="1800" dirty="0" err="1">
                <a:latin typeface="Bahnschrift Light" panose="020B0502040204020203" pitchFamily="34" charset="0"/>
              </a:rPr>
              <a:t>performansı</a:t>
            </a:r>
            <a:r>
              <a:rPr lang="en-US" sz="1800" dirty="0">
                <a:latin typeface="Bahnschrift Light" panose="020B0502040204020203" pitchFamily="34" charset="0"/>
              </a:rPr>
              <a:t> </a:t>
            </a:r>
            <a:r>
              <a:rPr lang="en-US" sz="1800" dirty="0" err="1">
                <a:latin typeface="Bahnschrift Light" panose="020B0502040204020203" pitchFamily="34" charset="0"/>
              </a:rPr>
              <a:t>doğruluk</a:t>
            </a:r>
            <a:r>
              <a:rPr lang="en-US" sz="1800" dirty="0">
                <a:latin typeface="Bahnschrift Light" panose="020B0502040204020203" pitchFamily="34" charset="0"/>
              </a:rPr>
              <a:t> (accuracy), precision, recall </a:t>
            </a:r>
            <a:r>
              <a:rPr lang="en-US" sz="1800" dirty="0" err="1">
                <a:latin typeface="Bahnschrift Light" panose="020B0502040204020203" pitchFamily="34" charset="0"/>
              </a:rPr>
              <a:t>ve</a:t>
            </a:r>
            <a:r>
              <a:rPr lang="en-US" sz="1800" dirty="0">
                <a:latin typeface="Bahnschrift Light" panose="020B0502040204020203" pitchFamily="34" charset="0"/>
              </a:rPr>
              <a:t> F1-score </a:t>
            </a:r>
            <a:r>
              <a:rPr lang="en-US" sz="1800" dirty="0" err="1">
                <a:latin typeface="Bahnschrift Light" panose="020B0502040204020203" pitchFamily="34" charset="0"/>
              </a:rPr>
              <a:t>gibi</a:t>
            </a:r>
            <a:r>
              <a:rPr lang="en-US" sz="1800" dirty="0">
                <a:latin typeface="Bahnschrift Light" panose="020B0502040204020203" pitchFamily="34" charset="0"/>
              </a:rPr>
              <a:t> </a:t>
            </a:r>
            <a:r>
              <a:rPr lang="en-US" sz="1800" dirty="0" err="1">
                <a:latin typeface="Bahnschrift Light" panose="020B0502040204020203" pitchFamily="34" charset="0"/>
              </a:rPr>
              <a:t>çeşitli</a:t>
            </a:r>
            <a:r>
              <a:rPr lang="en-US" sz="1800" dirty="0">
                <a:latin typeface="Bahnschrift Light" panose="020B0502040204020203" pitchFamily="34" charset="0"/>
              </a:rPr>
              <a:t> </a:t>
            </a:r>
            <a:r>
              <a:rPr lang="en-US" sz="1800" dirty="0" err="1">
                <a:latin typeface="Bahnschrift Light" panose="020B0502040204020203" pitchFamily="34" charset="0"/>
              </a:rPr>
              <a:t>değerlendirme</a:t>
            </a:r>
            <a:r>
              <a:rPr lang="en-US" sz="1800" dirty="0">
                <a:latin typeface="Bahnschrift Light" panose="020B0502040204020203" pitchFamily="34" charset="0"/>
              </a:rPr>
              <a:t> </a:t>
            </a:r>
            <a:r>
              <a:rPr lang="en-US" sz="1800" dirty="0" err="1">
                <a:latin typeface="Bahnschrift Light" panose="020B0502040204020203" pitchFamily="34" charset="0"/>
              </a:rPr>
              <a:t>metrikleri</a:t>
            </a:r>
            <a:r>
              <a:rPr lang="en-US" sz="1800" dirty="0">
                <a:latin typeface="Bahnschrift Light" panose="020B0502040204020203" pitchFamily="34" charset="0"/>
              </a:rPr>
              <a:t> </a:t>
            </a:r>
            <a:r>
              <a:rPr lang="en-US" sz="1800" dirty="0" err="1">
                <a:latin typeface="Bahnschrift Light" panose="020B0502040204020203" pitchFamily="34" charset="0"/>
              </a:rPr>
              <a:t>kullanılarak</a:t>
            </a:r>
            <a:r>
              <a:rPr lang="en-US" sz="1800" dirty="0">
                <a:latin typeface="Bahnschrift Light" panose="020B0502040204020203" pitchFamily="34" charset="0"/>
              </a:rPr>
              <a:t> </a:t>
            </a:r>
            <a:r>
              <a:rPr lang="en-US" sz="1800" dirty="0" err="1">
                <a:latin typeface="Bahnschrift Light" panose="020B0502040204020203" pitchFamily="34" charset="0"/>
              </a:rPr>
              <a:t>analiz</a:t>
            </a:r>
            <a:r>
              <a:rPr lang="en-US" sz="1800" dirty="0">
                <a:latin typeface="Bahnschrift Light" panose="020B0502040204020203" pitchFamily="34" charset="0"/>
              </a:rPr>
              <a:t> </a:t>
            </a:r>
            <a:r>
              <a:rPr lang="en-US" sz="1800" dirty="0" err="1">
                <a:latin typeface="Bahnschrift Light" panose="020B0502040204020203" pitchFamily="34" charset="0"/>
              </a:rPr>
              <a:t>edilmiştir</a:t>
            </a:r>
            <a:r>
              <a:rPr lang="en-US" sz="1800" dirty="0">
                <a:latin typeface="Bahnschrift Light" panose="020B0502040204020203" pitchFamily="34" charset="0"/>
              </a:rPr>
              <a:t>. Elde </a:t>
            </a:r>
            <a:r>
              <a:rPr lang="en-US" sz="1800" dirty="0" err="1">
                <a:latin typeface="Bahnschrift Light" panose="020B0502040204020203" pitchFamily="34" charset="0"/>
              </a:rPr>
              <a:t>edilen</a:t>
            </a:r>
            <a:r>
              <a:rPr lang="en-US" sz="1800" dirty="0">
                <a:latin typeface="Bahnschrift Light" panose="020B0502040204020203" pitchFamily="34" charset="0"/>
              </a:rPr>
              <a:t> </a:t>
            </a:r>
            <a:r>
              <a:rPr lang="en-US" sz="1800" dirty="0" err="1">
                <a:latin typeface="Bahnschrift Light" panose="020B0502040204020203" pitchFamily="34" charset="0"/>
              </a:rPr>
              <a:t>sonuçlara</a:t>
            </a:r>
            <a:r>
              <a:rPr lang="en-US" sz="1800" dirty="0">
                <a:latin typeface="Bahnschrift Light" panose="020B0502040204020203" pitchFamily="34" charset="0"/>
              </a:rPr>
              <a:t> </a:t>
            </a:r>
            <a:r>
              <a:rPr lang="en-US" sz="1800" dirty="0" err="1">
                <a:latin typeface="Bahnschrift Light" panose="020B0502040204020203" pitchFamily="34" charset="0"/>
              </a:rPr>
              <a:t>göre</a:t>
            </a:r>
            <a:r>
              <a:rPr lang="en-US" sz="1800" dirty="0">
                <a:latin typeface="Bahnschrift Light" panose="020B0502040204020203" pitchFamily="34" charset="0"/>
              </a:rPr>
              <a:t> model, </a:t>
            </a:r>
            <a:r>
              <a:rPr lang="en-US" sz="1800" dirty="0" err="1">
                <a:latin typeface="Bahnschrift Light" panose="020B0502040204020203" pitchFamily="34" charset="0"/>
              </a:rPr>
              <a:t>belediye</a:t>
            </a:r>
            <a:r>
              <a:rPr lang="en-US" sz="1800" dirty="0">
                <a:latin typeface="Bahnschrift Light" panose="020B0502040204020203" pitchFamily="34" charset="0"/>
              </a:rPr>
              <a:t> </a:t>
            </a:r>
            <a:r>
              <a:rPr lang="en-US" sz="1800" dirty="0" err="1">
                <a:latin typeface="Bahnschrift Light" panose="020B0502040204020203" pitchFamily="34" charset="0"/>
              </a:rPr>
              <a:t>şikayetlerini</a:t>
            </a:r>
            <a:r>
              <a:rPr lang="en-US" sz="1800" dirty="0">
                <a:latin typeface="Bahnschrift Light" panose="020B0502040204020203" pitchFamily="34" charset="0"/>
              </a:rPr>
              <a:t> </a:t>
            </a:r>
            <a:r>
              <a:rPr lang="en-US" sz="1800" dirty="0" err="1">
                <a:latin typeface="Bahnschrift Light" panose="020B0502040204020203" pitchFamily="34" charset="0"/>
              </a:rPr>
              <a:t>yüksek</a:t>
            </a:r>
            <a:r>
              <a:rPr lang="en-US" sz="1800" dirty="0">
                <a:latin typeface="Bahnschrift Light" panose="020B0502040204020203" pitchFamily="34" charset="0"/>
              </a:rPr>
              <a:t> </a:t>
            </a:r>
            <a:r>
              <a:rPr lang="en-US" sz="1800" dirty="0" err="1">
                <a:latin typeface="Bahnschrift Light" panose="020B0502040204020203" pitchFamily="34" charset="0"/>
              </a:rPr>
              <a:t>doğrulukla</a:t>
            </a:r>
            <a:r>
              <a:rPr lang="en-US" sz="1800" dirty="0">
                <a:latin typeface="Bahnschrift Light" panose="020B0502040204020203" pitchFamily="34" charset="0"/>
              </a:rPr>
              <a:t> </a:t>
            </a:r>
            <a:r>
              <a:rPr lang="en-US" sz="1800" dirty="0" err="1">
                <a:latin typeface="Bahnschrift Light" panose="020B0502040204020203" pitchFamily="34" charset="0"/>
              </a:rPr>
              <a:t>doğru</a:t>
            </a:r>
            <a:r>
              <a:rPr lang="en-US" sz="1800" dirty="0">
                <a:latin typeface="Bahnschrift Light" panose="020B0502040204020203" pitchFamily="34" charset="0"/>
              </a:rPr>
              <a:t> </a:t>
            </a:r>
            <a:r>
              <a:rPr lang="en-US" sz="1800" dirty="0" err="1">
                <a:latin typeface="Bahnschrift Light" panose="020B0502040204020203" pitchFamily="34" charset="0"/>
              </a:rPr>
              <a:t>hizmet</a:t>
            </a:r>
            <a:r>
              <a:rPr lang="en-US" sz="1800" dirty="0">
                <a:latin typeface="Bahnschrift Light" panose="020B0502040204020203" pitchFamily="34" charset="0"/>
              </a:rPr>
              <a:t> </a:t>
            </a:r>
            <a:r>
              <a:rPr lang="en-US" sz="1800" dirty="0" err="1">
                <a:latin typeface="Bahnschrift Light" panose="020B0502040204020203" pitchFamily="34" charset="0"/>
              </a:rPr>
              <a:t>kategorilerine</a:t>
            </a:r>
            <a:r>
              <a:rPr lang="en-US" sz="1800" dirty="0">
                <a:latin typeface="Bahnschrift Light" panose="020B0502040204020203" pitchFamily="34" charset="0"/>
              </a:rPr>
              <a:t> </a:t>
            </a:r>
            <a:r>
              <a:rPr lang="en-US" sz="1800" dirty="0" err="1">
                <a:latin typeface="Bahnschrift Light" panose="020B0502040204020203" pitchFamily="34" charset="0"/>
              </a:rPr>
              <a:t>sınıflandırabilmektedir</a:t>
            </a:r>
            <a:r>
              <a:rPr lang="en-US" sz="1800" dirty="0">
                <a:latin typeface="Bahnschrift Light" panose="020B0502040204020203" pitchFamily="34" charset="0"/>
              </a:rPr>
              <a:t>.</a:t>
            </a:r>
          </a:p>
          <a:p>
            <a:endParaRPr lang="en-US" sz="1800" dirty="0">
              <a:latin typeface="Bahnschrift Light" panose="020B0502040204020203" pitchFamily="34" charset="0"/>
            </a:endParaRPr>
          </a:p>
          <a:p>
            <a:r>
              <a:rPr lang="en-US" sz="1800" dirty="0">
                <a:latin typeface="Bahnschrift Light" panose="020B0502040204020203" pitchFamily="34" charset="0"/>
              </a:rPr>
              <a:t>  </a:t>
            </a:r>
            <a:r>
              <a:rPr lang="en-US" sz="1800" dirty="0" err="1">
                <a:latin typeface="Bahnschrift Light" panose="020B0502040204020203" pitchFamily="34" charset="0"/>
              </a:rPr>
              <a:t>Eğitim</a:t>
            </a:r>
            <a:r>
              <a:rPr lang="en-US" sz="1800" dirty="0">
                <a:latin typeface="Bahnschrift Light" panose="020B0502040204020203" pitchFamily="34" charset="0"/>
              </a:rPr>
              <a:t> </a:t>
            </a:r>
            <a:r>
              <a:rPr lang="en-US" sz="1800" dirty="0" err="1">
                <a:latin typeface="Bahnschrift Light" panose="020B0502040204020203" pitchFamily="34" charset="0"/>
              </a:rPr>
              <a:t>süreci</a:t>
            </a:r>
            <a:r>
              <a:rPr lang="en-US" sz="1800" dirty="0">
                <a:latin typeface="Bahnschrift Light" panose="020B0502040204020203" pitchFamily="34" charset="0"/>
              </a:rPr>
              <a:t> </a:t>
            </a:r>
            <a:r>
              <a:rPr lang="en-US" sz="1800" dirty="0" err="1">
                <a:latin typeface="Bahnschrift Light" panose="020B0502040204020203" pitchFamily="34" charset="0"/>
              </a:rPr>
              <a:t>boyunca</a:t>
            </a:r>
            <a:r>
              <a:rPr lang="en-US" sz="1800" dirty="0">
                <a:latin typeface="Bahnschrift Light" panose="020B0502040204020203" pitchFamily="34" charset="0"/>
              </a:rPr>
              <a:t> validation loss </a:t>
            </a:r>
            <a:r>
              <a:rPr lang="en-US" sz="1800" dirty="0" err="1">
                <a:latin typeface="Bahnschrift Light" panose="020B0502040204020203" pitchFamily="34" charset="0"/>
              </a:rPr>
              <a:t>değerinin</a:t>
            </a:r>
            <a:r>
              <a:rPr lang="en-US" sz="1800" dirty="0">
                <a:latin typeface="Bahnschrift Light" panose="020B0502040204020203" pitchFamily="34" charset="0"/>
              </a:rPr>
              <a:t> </a:t>
            </a:r>
            <a:r>
              <a:rPr lang="en-US" sz="1800" dirty="0" err="1">
                <a:latin typeface="Bahnschrift Light" panose="020B0502040204020203" pitchFamily="34" charset="0"/>
              </a:rPr>
              <a:t>düzenli</a:t>
            </a:r>
            <a:r>
              <a:rPr lang="en-US" sz="1800" dirty="0">
                <a:latin typeface="Bahnschrift Light" panose="020B0502040204020203" pitchFamily="34" charset="0"/>
              </a:rPr>
              <a:t> </a:t>
            </a:r>
            <a:r>
              <a:rPr lang="en-US" sz="1800" dirty="0" err="1">
                <a:latin typeface="Bahnschrift Light" panose="020B0502040204020203" pitchFamily="34" charset="0"/>
              </a:rPr>
              <a:t>olarak</a:t>
            </a:r>
            <a:r>
              <a:rPr lang="en-US" sz="1800" dirty="0">
                <a:latin typeface="Bahnschrift Light" panose="020B0502040204020203" pitchFamily="34" charset="0"/>
              </a:rPr>
              <a:t> </a:t>
            </a:r>
            <a:r>
              <a:rPr lang="en-US" sz="1800" dirty="0" err="1">
                <a:latin typeface="Bahnschrift Light" panose="020B0502040204020203" pitchFamily="34" charset="0"/>
              </a:rPr>
              <a:t>azaldığı</a:t>
            </a:r>
            <a:r>
              <a:rPr lang="en-US" sz="1800" dirty="0">
                <a:latin typeface="Bahnschrift Light" panose="020B0502040204020203" pitchFamily="34" charset="0"/>
              </a:rPr>
              <a:t> </a:t>
            </a:r>
            <a:r>
              <a:rPr lang="en-US" sz="1800" dirty="0" err="1">
                <a:latin typeface="Bahnschrift Light" panose="020B0502040204020203" pitchFamily="34" charset="0"/>
              </a:rPr>
              <a:t>ve</a:t>
            </a:r>
            <a:r>
              <a:rPr lang="en-US" sz="1800" dirty="0">
                <a:latin typeface="Bahnschrift Light" panose="020B0502040204020203" pitchFamily="34" charset="0"/>
              </a:rPr>
              <a:t> buna </a:t>
            </a:r>
            <a:r>
              <a:rPr lang="en-US" sz="1800" dirty="0" err="1">
                <a:latin typeface="Bahnschrift Light" panose="020B0502040204020203" pitchFamily="34" charset="0"/>
              </a:rPr>
              <a:t>paralel</a:t>
            </a:r>
            <a:r>
              <a:rPr lang="en-US" sz="1800" dirty="0">
                <a:latin typeface="Bahnschrift Light" panose="020B0502040204020203" pitchFamily="34" charset="0"/>
              </a:rPr>
              <a:t> </a:t>
            </a:r>
            <a:r>
              <a:rPr lang="en-US" sz="1800" dirty="0" err="1">
                <a:latin typeface="Bahnschrift Light" panose="020B0502040204020203" pitchFamily="34" charset="0"/>
              </a:rPr>
              <a:t>olarak</a:t>
            </a:r>
            <a:r>
              <a:rPr lang="en-US" sz="1800" dirty="0">
                <a:latin typeface="Bahnschrift Light" panose="020B0502040204020203" pitchFamily="34" charset="0"/>
              </a:rPr>
              <a:t> accuracy </a:t>
            </a:r>
            <a:r>
              <a:rPr lang="en-US" sz="1800" dirty="0" err="1">
                <a:latin typeface="Bahnschrift Light" panose="020B0502040204020203" pitchFamily="34" charset="0"/>
              </a:rPr>
              <a:t>değerinin</a:t>
            </a:r>
            <a:r>
              <a:rPr lang="en-US" sz="1800" dirty="0">
                <a:latin typeface="Bahnschrift Light" panose="020B0502040204020203" pitchFamily="34" charset="0"/>
              </a:rPr>
              <a:t> </a:t>
            </a:r>
            <a:r>
              <a:rPr lang="en-US" sz="1800" dirty="0" err="1">
                <a:latin typeface="Bahnschrift Light" panose="020B0502040204020203" pitchFamily="34" charset="0"/>
              </a:rPr>
              <a:t>arttığı</a:t>
            </a:r>
            <a:r>
              <a:rPr lang="en-US" sz="1800" dirty="0">
                <a:latin typeface="Bahnschrift Light" panose="020B0502040204020203" pitchFamily="34" charset="0"/>
              </a:rPr>
              <a:t> </a:t>
            </a:r>
            <a:r>
              <a:rPr lang="en-US" sz="1800" dirty="0" err="1">
                <a:latin typeface="Bahnschrift Light" panose="020B0502040204020203" pitchFamily="34" charset="0"/>
              </a:rPr>
              <a:t>gözlemlenmiştir</a:t>
            </a:r>
            <a:r>
              <a:rPr lang="en-US" sz="1800" dirty="0">
                <a:latin typeface="Bahnschrift Light" panose="020B0502040204020203" pitchFamily="34" charset="0"/>
              </a:rPr>
              <a:t>. Bu durum, </a:t>
            </a:r>
            <a:r>
              <a:rPr lang="en-US" sz="1800" dirty="0" err="1">
                <a:latin typeface="Bahnschrift Light" panose="020B0502040204020203" pitchFamily="34" charset="0"/>
              </a:rPr>
              <a:t>modelin</a:t>
            </a:r>
            <a:r>
              <a:rPr lang="en-US" sz="1800" dirty="0">
                <a:latin typeface="Bahnschrift Light" panose="020B0502040204020203" pitchFamily="34" charset="0"/>
              </a:rPr>
              <a:t> </a:t>
            </a:r>
            <a:r>
              <a:rPr lang="en-US" sz="1800" dirty="0" err="1">
                <a:latin typeface="Bahnschrift Light" panose="020B0502040204020203" pitchFamily="34" charset="0"/>
              </a:rPr>
              <a:t>öğrenme</a:t>
            </a:r>
            <a:r>
              <a:rPr lang="en-US" sz="1800" dirty="0">
                <a:latin typeface="Bahnschrift Light" panose="020B0502040204020203" pitchFamily="34" charset="0"/>
              </a:rPr>
              <a:t> </a:t>
            </a:r>
            <a:r>
              <a:rPr lang="en-US" sz="1800" dirty="0" err="1">
                <a:latin typeface="Bahnschrift Light" panose="020B0502040204020203" pitchFamily="34" charset="0"/>
              </a:rPr>
              <a:t>sürecinin</a:t>
            </a:r>
            <a:r>
              <a:rPr lang="en-US" sz="1800" dirty="0">
                <a:latin typeface="Bahnschrift Light" panose="020B0502040204020203" pitchFamily="34" charset="0"/>
              </a:rPr>
              <a:t> </a:t>
            </a:r>
            <a:r>
              <a:rPr lang="en-US" sz="1800" dirty="0" err="1">
                <a:latin typeface="Bahnschrift Light" panose="020B0502040204020203" pitchFamily="34" charset="0"/>
              </a:rPr>
              <a:t>sağlıklı</a:t>
            </a:r>
            <a:r>
              <a:rPr lang="en-US" sz="1800" dirty="0">
                <a:latin typeface="Bahnschrift Light" panose="020B0502040204020203" pitchFamily="34" charset="0"/>
              </a:rPr>
              <a:t> </a:t>
            </a:r>
            <a:r>
              <a:rPr lang="en-US" sz="1800" dirty="0" err="1">
                <a:latin typeface="Bahnschrift Light" panose="020B0502040204020203" pitchFamily="34" charset="0"/>
              </a:rPr>
              <a:t>ilerlediğini</a:t>
            </a:r>
            <a:r>
              <a:rPr lang="en-US" sz="1800" dirty="0">
                <a:latin typeface="Bahnschrift Light" panose="020B0502040204020203" pitchFamily="34" charset="0"/>
              </a:rPr>
              <a:t> </a:t>
            </a:r>
            <a:r>
              <a:rPr lang="en-US" sz="1800" dirty="0" err="1">
                <a:latin typeface="Bahnschrift Light" panose="020B0502040204020203" pitchFamily="34" charset="0"/>
              </a:rPr>
              <a:t>ve</a:t>
            </a:r>
            <a:r>
              <a:rPr lang="en-US" sz="1800" dirty="0">
                <a:latin typeface="Bahnschrift Light" panose="020B0502040204020203" pitchFamily="34" charset="0"/>
              </a:rPr>
              <a:t> </a:t>
            </a:r>
            <a:r>
              <a:rPr lang="en-US" sz="1800" dirty="0" err="1">
                <a:latin typeface="Bahnschrift Light" panose="020B0502040204020203" pitchFamily="34" charset="0"/>
              </a:rPr>
              <a:t>veri</a:t>
            </a:r>
            <a:r>
              <a:rPr lang="en-US" sz="1800" dirty="0">
                <a:latin typeface="Bahnschrift Light" panose="020B0502040204020203" pitchFamily="34" charset="0"/>
              </a:rPr>
              <a:t> </a:t>
            </a:r>
            <a:r>
              <a:rPr lang="en-US" sz="1800" dirty="0" err="1">
                <a:latin typeface="Bahnschrift Light" panose="020B0502040204020203" pitchFamily="34" charset="0"/>
              </a:rPr>
              <a:t>seti</a:t>
            </a:r>
            <a:r>
              <a:rPr lang="en-US" sz="1800" dirty="0">
                <a:latin typeface="Bahnschrift Light" panose="020B0502040204020203" pitchFamily="34" charset="0"/>
              </a:rPr>
              <a:t> </a:t>
            </a:r>
            <a:r>
              <a:rPr lang="en-US" sz="1800" dirty="0" err="1">
                <a:latin typeface="Bahnschrift Light" panose="020B0502040204020203" pitchFamily="34" charset="0"/>
              </a:rPr>
              <a:t>üzerindeki</a:t>
            </a:r>
            <a:r>
              <a:rPr lang="en-US" sz="1800" dirty="0">
                <a:latin typeface="Bahnschrift Light" panose="020B0502040204020203" pitchFamily="34" charset="0"/>
              </a:rPr>
              <a:t> </a:t>
            </a:r>
            <a:r>
              <a:rPr lang="en-US" sz="1800" dirty="0" err="1">
                <a:latin typeface="Bahnschrift Light" panose="020B0502040204020203" pitchFamily="34" charset="0"/>
              </a:rPr>
              <a:t>örüntüleri</a:t>
            </a:r>
            <a:r>
              <a:rPr lang="en-US" sz="1800" dirty="0">
                <a:latin typeface="Bahnschrift Light" panose="020B0502040204020203" pitchFamily="34" charset="0"/>
              </a:rPr>
              <a:t> </a:t>
            </a:r>
            <a:r>
              <a:rPr lang="en-US" sz="1800" dirty="0" err="1">
                <a:latin typeface="Bahnschrift Light" panose="020B0502040204020203" pitchFamily="34" charset="0"/>
              </a:rPr>
              <a:t>başarılı</a:t>
            </a:r>
            <a:r>
              <a:rPr lang="en-US" sz="1800" dirty="0">
                <a:latin typeface="Bahnschrift Light" panose="020B0502040204020203" pitchFamily="34" charset="0"/>
              </a:rPr>
              <a:t> </a:t>
            </a:r>
            <a:r>
              <a:rPr lang="en-US" sz="1800" dirty="0" err="1">
                <a:latin typeface="Bahnschrift Light" panose="020B0502040204020203" pitchFamily="34" charset="0"/>
              </a:rPr>
              <a:t>bir</a:t>
            </a:r>
            <a:r>
              <a:rPr lang="en-US" sz="1800" dirty="0">
                <a:latin typeface="Bahnschrift Light" panose="020B0502040204020203" pitchFamily="34" charset="0"/>
              </a:rPr>
              <a:t> </a:t>
            </a:r>
            <a:r>
              <a:rPr lang="en-US" sz="1800" dirty="0" err="1">
                <a:latin typeface="Bahnschrift Light" panose="020B0502040204020203" pitchFamily="34" charset="0"/>
              </a:rPr>
              <a:t>şekilde</a:t>
            </a:r>
            <a:r>
              <a:rPr lang="en-US" sz="1800" dirty="0">
                <a:latin typeface="Bahnschrift Light" panose="020B0502040204020203" pitchFamily="34" charset="0"/>
              </a:rPr>
              <a:t> </a:t>
            </a:r>
            <a:r>
              <a:rPr lang="en-US" sz="1800" dirty="0" err="1">
                <a:latin typeface="Bahnschrift Light" panose="020B0502040204020203" pitchFamily="34" charset="0"/>
              </a:rPr>
              <a:t>öğrendiğini</a:t>
            </a:r>
            <a:r>
              <a:rPr lang="en-US" sz="1800" dirty="0">
                <a:latin typeface="Bahnschrift Light" panose="020B0502040204020203" pitchFamily="34" charset="0"/>
              </a:rPr>
              <a:t> </a:t>
            </a:r>
            <a:r>
              <a:rPr lang="en-US" sz="1800" dirty="0" err="1">
                <a:latin typeface="Bahnschrift Light" panose="020B0502040204020203" pitchFamily="34" charset="0"/>
              </a:rPr>
              <a:t>göstermektedir</a:t>
            </a:r>
            <a:r>
              <a:rPr lang="en-US" sz="1800" dirty="0">
                <a:latin typeface="Bahnschrift Light" panose="020B0502040204020203" pitchFamily="34" charset="0"/>
              </a:rPr>
              <a:t>.</a:t>
            </a:r>
          </a:p>
          <a:p>
            <a:endParaRPr lang="en-US" sz="1800" dirty="0">
              <a:latin typeface="Bahnschrift Light" panose="020B0502040204020203" pitchFamily="34" charset="0"/>
            </a:endParaRPr>
          </a:p>
          <a:p>
            <a:r>
              <a:rPr lang="en-US" sz="1800" dirty="0">
                <a:latin typeface="Bahnschrift Light" panose="020B0502040204020203" pitchFamily="34" charset="0"/>
              </a:rPr>
              <a:t>  </a:t>
            </a:r>
            <a:r>
              <a:rPr lang="en-US" sz="1800" dirty="0" err="1">
                <a:latin typeface="Bahnschrift Light" panose="020B0502040204020203" pitchFamily="34" charset="0"/>
              </a:rPr>
              <a:t>Ayrıca</a:t>
            </a:r>
            <a:r>
              <a:rPr lang="en-US" sz="1800" dirty="0">
                <a:latin typeface="Bahnschrift Light" panose="020B0502040204020203" pitchFamily="34" charset="0"/>
              </a:rPr>
              <a:t> </a:t>
            </a:r>
            <a:r>
              <a:rPr lang="en-US" sz="1800" dirty="0" err="1">
                <a:latin typeface="Bahnschrift Light" panose="020B0502040204020203" pitchFamily="34" charset="0"/>
              </a:rPr>
              <a:t>modelin</a:t>
            </a:r>
            <a:r>
              <a:rPr lang="en-US" sz="1800" dirty="0">
                <a:latin typeface="Bahnschrift Light" panose="020B0502040204020203" pitchFamily="34" charset="0"/>
              </a:rPr>
              <a:t> </a:t>
            </a:r>
            <a:r>
              <a:rPr lang="en-US" sz="1800" dirty="0" err="1">
                <a:latin typeface="Bahnschrift Light" panose="020B0502040204020203" pitchFamily="34" charset="0"/>
              </a:rPr>
              <a:t>eğitim</a:t>
            </a:r>
            <a:r>
              <a:rPr lang="en-US" sz="1800" dirty="0">
                <a:latin typeface="Bahnschrift Light" panose="020B0502040204020203" pitchFamily="34" charset="0"/>
              </a:rPr>
              <a:t> </a:t>
            </a:r>
            <a:r>
              <a:rPr lang="en-US" sz="1800" dirty="0" err="1">
                <a:latin typeface="Bahnschrift Light" panose="020B0502040204020203" pitchFamily="34" charset="0"/>
              </a:rPr>
              <a:t>ve</a:t>
            </a:r>
            <a:r>
              <a:rPr lang="en-US" sz="1800" dirty="0">
                <a:latin typeface="Bahnschrift Light" panose="020B0502040204020203" pitchFamily="34" charset="0"/>
              </a:rPr>
              <a:t> </a:t>
            </a:r>
            <a:r>
              <a:rPr lang="en-US" sz="1800" dirty="0" err="1">
                <a:latin typeface="Bahnschrift Light" panose="020B0502040204020203" pitchFamily="34" charset="0"/>
              </a:rPr>
              <a:t>doğrulama</a:t>
            </a:r>
            <a:r>
              <a:rPr lang="en-US" sz="1800" dirty="0">
                <a:latin typeface="Bahnschrift Light" panose="020B0502040204020203" pitchFamily="34" charset="0"/>
              </a:rPr>
              <a:t> </a:t>
            </a:r>
            <a:r>
              <a:rPr lang="en-US" sz="1800" dirty="0" err="1">
                <a:latin typeface="Bahnschrift Light" panose="020B0502040204020203" pitchFamily="34" charset="0"/>
              </a:rPr>
              <a:t>performansları</a:t>
            </a:r>
            <a:r>
              <a:rPr lang="en-US" sz="1800" dirty="0">
                <a:latin typeface="Bahnschrift Light" panose="020B0502040204020203" pitchFamily="34" charset="0"/>
              </a:rPr>
              <a:t> </a:t>
            </a:r>
            <a:r>
              <a:rPr lang="en-US" sz="1800" dirty="0" err="1">
                <a:latin typeface="Bahnschrift Light" panose="020B0502040204020203" pitchFamily="34" charset="0"/>
              </a:rPr>
              <a:t>arasındaki</a:t>
            </a:r>
            <a:r>
              <a:rPr lang="en-US" sz="1800" dirty="0">
                <a:latin typeface="Bahnschrift Light" panose="020B0502040204020203" pitchFamily="34" charset="0"/>
              </a:rPr>
              <a:t> </a:t>
            </a:r>
            <a:r>
              <a:rPr lang="en-US" sz="1800" dirty="0" err="1">
                <a:latin typeface="Bahnschrift Light" panose="020B0502040204020203" pitchFamily="34" charset="0"/>
              </a:rPr>
              <a:t>farkın</a:t>
            </a:r>
            <a:r>
              <a:rPr lang="en-US" sz="1800" dirty="0">
                <a:latin typeface="Bahnschrift Light" panose="020B0502040204020203" pitchFamily="34" charset="0"/>
              </a:rPr>
              <a:t> </a:t>
            </a:r>
            <a:r>
              <a:rPr lang="en-US" sz="1800" dirty="0" err="1">
                <a:latin typeface="Bahnschrift Light" panose="020B0502040204020203" pitchFamily="34" charset="0"/>
              </a:rPr>
              <a:t>düşük</a:t>
            </a:r>
            <a:r>
              <a:rPr lang="en-US" sz="1800" dirty="0">
                <a:latin typeface="Bahnschrift Light" panose="020B0502040204020203" pitchFamily="34" charset="0"/>
              </a:rPr>
              <a:t> </a:t>
            </a:r>
            <a:r>
              <a:rPr lang="en-US" sz="1800" dirty="0" err="1">
                <a:latin typeface="Bahnschrift Light" panose="020B0502040204020203" pitchFamily="34" charset="0"/>
              </a:rPr>
              <a:t>olması</a:t>
            </a:r>
            <a:r>
              <a:rPr lang="en-US" sz="1800" dirty="0">
                <a:latin typeface="Bahnschrift Light" panose="020B0502040204020203" pitchFamily="34" charset="0"/>
              </a:rPr>
              <a:t>, overfitting </a:t>
            </a:r>
            <a:r>
              <a:rPr lang="en-US" sz="1800" dirty="0" err="1">
                <a:latin typeface="Bahnschrift Light" panose="020B0502040204020203" pitchFamily="34" charset="0"/>
              </a:rPr>
              <a:t>probleminin</a:t>
            </a:r>
            <a:r>
              <a:rPr lang="en-US" sz="1800" dirty="0">
                <a:latin typeface="Bahnschrift Light" panose="020B0502040204020203" pitchFamily="34" charset="0"/>
              </a:rPr>
              <a:t> </a:t>
            </a:r>
            <a:r>
              <a:rPr lang="en-US" sz="1800" dirty="0" err="1">
                <a:latin typeface="Bahnschrift Light" panose="020B0502040204020203" pitchFamily="34" charset="0"/>
              </a:rPr>
              <a:t>önemli</a:t>
            </a:r>
            <a:r>
              <a:rPr lang="en-US" sz="1800" dirty="0">
                <a:latin typeface="Bahnschrift Light" panose="020B0502040204020203" pitchFamily="34" charset="0"/>
              </a:rPr>
              <a:t> </a:t>
            </a:r>
            <a:r>
              <a:rPr lang="en-US" sz="1800" dirty="0" err="1">
                <a:latin typeface="Bahnschrift Light" panose="020B0502040204020203" pitchFamily="34" charset="0"/>
              </a:rPr>
              <a:t>ölçüde</a:t>
            </a:r>
            <a:r>
              <a:rPr lang="en-US" sz="1800" dirty="0">
                <a:latin typeface="Bahnschrift Light" panose="020B0502040204020203" pitchFamily="34" charset="0"/>
              </a:rPr>
              <a:t> </a:t>
            </a:r>
            <a:r>
              <a:rPr lang="en-US" sz="1800" dirty="0" err="1">
                <a:latin typeface="Bahnschrift Light" panose="020B0502040204020203" pitchFamily="34" charset="0"/>
              </a:rPr>
              <a:t>kontrol</a:t>
            </a:r>
            <a:r>
              <a:rPr lang="en-US" sz="1800" dirty="0">
                <a:latin typeface="Bahnschrift Light" panose="020B0502040204020203" pitchFamily="34" charset="0"/>
              </a:rPr>
              <a:t> </a:t>
            </a:r>
            <a:r>
              <a:rPr lang="en-US" sz="1800" dirty="0" err="1">
                <a:latin typeface="Bahnschrift Light" panose="020B0502040204020203" pitchFamily="34" charset="0"/>
              </a:rPr>
              <a:t>altına</a:t>
            </a:r>
            <a:r>
              <a:rPr lang="en-US" sz="1800" dirty="0">
                <a:latin typeface="Bahnschrift Light" panose="020B0502040204020203" pitchFamily="34" charset="0"/>
              </a:rPr>
              <a:t> </a:t>
            </a:r>
            <a:r>
              <a:rPr lang="en-US" sz="1800" dirty="0" err="1">
                <a:latin typeface="Bahnschrift Light" panose="020B0502040204020203" pitchFamily="34" charset="0"/>
              </a:rPr>
              <a:t>alındığını</a:t>
            </a:r>
            <a:r>
              <a:rPr lang="en-US" sz="1800" dirty="0">
                <a:latin typeface="Bahnschrift Light" panose="020B0502040204020203" pitchFamily="34" charset="0"/>
              </a:rPr>
              <a:t> </a:t>
            </a:r>
            <a:r>
              <a:rPr lang="en-US" sz="1800" dirty="0" err="1">
                <a:latin typeface="Bahnschrift Light" panose="020B0502040204020203" pitchFamily="34" charset="0"/>
              </a:rPr>
              <a:t>ve</a:t>
            </a:r>
            <a:r>
              <a:rPr lang="en-US" sz="1800" dirty="0">
                <a:latin typeface="Bahnschrift Light" panose="020B0502040204020203" pitchFamily="34" charset="0"/>
              </a:rPr>
              <a:t> </a:t>
            </a:r>
            <a:r>
              <a:rPr lang="en-US" sz="1800" dirty="0" err="1">
                <a:latin typeface="Bahnschrift Light" panose="020B0502040204020203" pitchFamily="34" charset="0"/>
              </a:rPr>
              <a:t>modelin</a:t>
            </a:r>
            <a:r>
              <a:rPr lang="en-US" sz="1800" dirty="0">
                <a:latin typeface="Bahnschrift Light" panose="020B0502040204020203" pitchFamily="34" charset="0"/>
              </a:rPr>
              <a:t> </a:t>
            </a:r>
            <a:r>
              <a:rPr lang="en-US" sz="1800" dirty="0" err="1">
                <a:latin typeface="Bahnschrift Light" panose="020B0502040204020203" pitchFamily="34" charset="0"/>
              </a:rPr>
              <a:t>genelleme</a:t>
            </a:r>
            <a:r>
              <a:rPr lang="en-US" sz="1800" dirty="0">
                <a:latin typeface="Bahnschrift Light" panose="020B0502040204020203" pitchFamily="34" charset="0"/>
              </a:rPr>
              <a:t> </a:t>
            </a:r>
            <a:r>
              <a:rPr lang="en-US" sz="1800" dirty="0" err="1">
                <a:latin typeface="Bahnschrift Light" panose="020B0502040204020203" pitchFamily="34" charset="0"/>
              </a:rPr>
              <a:t>kabiliyetinin</a:t>
            </a:r>
            <a:r>
              <a:rPr lang="en-US" sz="1800" dirty="0">
                <a:latin typeface="Bahnschrift Light" panose="020B0502040204020203" pitchFamily="34" charset="0"/>
              </a:rPr>
              <a:t> </a:t>
            </a:r>
            <a:r>
              <a:rPr lang="en-US" sz="1800" dirty="0" err="1">
                <a:latin typeface="Bahnschrift Light" panose="020B0502040204020203" pitchFamily="34" charset="0"/>
              </a:rPr>
              <a:t>güçlü</a:t>
            </a:r>
            <a:r>
              <a:rPr lang="en-US" sz="1800" dirty="0">
                <a:latin typeface="Bahnschrift Light" panose="020B0502040204020203" pitchFamily="34" charset="0"/>
              </a:rPr>
              <a:t> </a:t>
            </a:r>
            <a:r>
              <a:rPr lang="en-US" sz="1800" dirty="0" err="1">
                <a:latin typeface="Bahnschrift Light" panose="020B0502040204020203" pitchFamily="34" charset="0"/>
              </a:rPr>
              <a:t>olduğunu</a:t>
            </a:r>
            <a:r>
              <a:rPr lang="en-US" sz="1800" dirty="0">
                <a:latin typeface="Bahnschrift Light" panose="020B0502040204020203" pitchFamily="34" charset="0"/>
              </a:rPr>
              <a:t> </a:t>
            </a:r>
            <a:r>
              <a:rPr lang="en-US" sz="1800" dirty="0" err="1">
                <a:latin typeface="Bahnschrift Light" panose="020B0502040204020203" pitchFamily="34" charset="0"/>
              </a:rPr>
              <a:t>ortaya</a:t>
            </a:r>
            <a:r>
              <a:rPr lang="en-US" sz="1800" dirty="0">
                <a:latin typeface="Bahnschrift Light" panose="020B0502040204020203" pitchFamily="34" charset="0"/>
              </a:rPr>
              <a:t> </a:t>
            </a:r>
            <a:r>
              <a:rPr lang="en-US" sz="1800" dirty="0" err="1">
                <a:latin typeface="Bahnschrift Light" panose="020B0502040204020203" pitchFamily="34" charset="0"/>
              </a:rPr>
              <a:t>koymaktadır</a:t>
            </a:r>
            <a:r>
              <a:rPr lang="en-US" sz="1800" dirty="0">
                <a:latin typeface="Bahnschrift Light" panose="020B0502040204020203" pitchFamily="34" charset="0"/>
              </a:rPr>
              <a:t>. </a:t>
            </a:r>
            <a:r>
              <a:rPr lang="en-US" sz="1800" dirty="0" err="1">
                <a:latin typeface="Bahnschrift Light SemiCondensed" panose="020B0502040204020203" pitchFamily="34" charset="0"/>
              </a:rPr>
              <a:t>gerçekleştirdiğini</a:t>
            </a:r>
            <a:r>
              <a:rPr lang="en-US" sz="1800" dirty="0">
                <a:latin typeface="Bahnschrift Light SemiCondensed" panose="020B0502040204020203" pitchFamily="34" charset="0"/>
              </a:rPr>
              <a:t> </a:t>
            </a:r>
            <a:r>
              <a:rPr lang="en-US" sz="1800" dirty="0" err="1">
                <a:latin typeface="Bahnschrift Light SemiCondensed" panose="020B0502040204020203" pitchFamily="34" charset="0"/>
              </a:rPr>
              <a:t>göstermektedir</a:t>
            </a:r>
            <a:r>
              <a:rPr lang="en-US" sz="1800" dirty="0">
                <a:latin typeface="Bahnschrift Light SemiCondensed" panose="020B0502040204020203" pitchFamily="34" charset="0"/>
              </a:rPr>
              <a:t>.</a:t>
            </a:r>
            <a:endParaRPr lang="tr-TR" sz="1800" dirty="0">
              <a:latin typeface="Bahnschrift Light SemiCondensed" panose="020B0502040204020203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83647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sz="4000" dirty="0">
                <a:solidFill>
                  <a:schemeClr val="accent2">
                    <a:lumMod val="50000"/>
                  </a:schemeClr>
                </a:solidFill>
                <a:latin typeface="Bookman Old Style" panose="02050604050505020204" pitchFamily="18" charset="0"/>
              </a:rPr>
              <a:t>Genel değerlendirme ve özet</a:t>
            </a:r>
            <a:endParaRPr lang="en-US" sz="4000" dirty="0">
              <a:solidFill>
                <a:schemeClr val="accent2">
                  <a:lumMod val="50000"/>
                </a:schemeClr>
              </a:solidFill>
              <a:latin typeface="Bookman Old Style" panose="02050604050505020204" pitchFamily="18" charset="0"/>
            </a:endParaRP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1024128" y="2568632"/>
            <a:ext cx="9720073" cy="4023360"/>
          </a:xfrm>
        </p:spPr>
        <p:txBody>
          <a:bodyPr/>
          <a:lstStyle/>
          <a:p>
            <a:r>
              <a:rPr lang="tr-TR" dirty="0">
                <a:latin typeface="Bahnschrift Light SemiCondensed" panose="020B0502040204020203" pitchFamily="34" charset="0"/>
              </a:rPr>
              <a:t>  </a:t>
            </a:r>
            <a:r>
              <a:rPr lang="en-US" dirty="0">
                <a:latin typeface="Bahnschrift Light SemiCondensed" panose="020B0502040204020203" pitchFamily="34" charset="0"/>
              </a:rPr>
              <a:t>Bu </a:t>
            </a:r>
            <a:r>
              <a:rPr lang="en-US" dirty="0" err="1">
                <a:latin typeface="Bahnschrift Light SemiCondensed" panose="020B0502040204020203" pitchFamily="34" charset="0"/>
              </a:rPr>
              <a:t>projede</a:t>
            </a:r>
            <a:r>
              <a:rPr lang="en-US" dirty="0">
                <a:latin typeface="Bahnschrift Light SemiCondensed" panose="020B0502040204020203" pitchFamily="34" charset="0"/>
              </a:rPr>
              <a:t>, </a:t>
            </a:r>
            <a:r>
              <a:rPr lang="en-US" dirty="0" err="1">
                <a:latin typeface="Bahnschrift Light SemiCondensed" panose="020B0502040204020203" pitchFamily="34" charset="0"/>
              </a:rPr>
              <a:t>müşteri</a:t>
            </a:r>
            <a:r>
              <a:rPr lang="en-US" dirty="0">
                <a:latin typeface="Bahnschrift Light SemiCondensed" panose="020B0502040204020203" pitchFamily="34" charset="0"/>
              </a:rPr>
              <a:t> </a:t>
            </a:r>
            <a:r>
              <a:rPr lang="en-US" dirty="0" err="1">
                <a:latin typeface="Bahnschrift Light SemiCondensed" panose="020B0502040204020203" pitchFamily="34" charset="0"/>
              </a:rPr>
              <a:t>şikayet</a:t>
            </a:r>
            <a:r>
              <a:rPr lang="en-US" dirty="0">
                <a:latin typeface="Bahnschrift Light SemiCondensed" panose="020B0502040204020203" pitchFamily="34" charset="0"/>
              </a:rPr>
              <a:t> </a:t>
            </a:r>
            <a:r>
              <a:rPr lang="en-US" dirty="0" err="1">
                <a:latin typeface="Bahnschrift Light SemiCondensed" panose="020B0502040204020203" pitchFamily="34" charset="0"/>
              </a:rPr>
              <a:t>metinlerini</a:t>
            </a:r>
            <a:r>
              <a:rPr lang="en-US" dirty="0">
                <a:latin typeface="Bahnschrift Light SemiCondensed" panose="020B0502040204020203" pitchFamily="34" charset="0"/>
              </a:rPr>
              <a:t> </a:t>
            </a:r>
            <a:r>
              <a:rPr lang="en-US" dirty="0" err="1">
                <a:latin typeface="Bahnschrift Light SemiCondensed" panose="020B0502040204020203" pitchFamily="34" charset="0"/>
              </a:rPr>
              <a:t>otomatik</a:t>
            </a:r>
            <a:r>
              <a:rPr lang="en-US" dirty="0">
                <a:latin typeface="Bahnschrift Light SemiCondensed" panose="020B0502040204020203" pitchFamily="34" charset="0"/>
              </a:rPr>
              <a:t> </a:t>
            </a:r>
            <a:r>
              <a:rPr lang="en-US" dirty="0" err="1">
                <a:latin typeface="Bahnschrift Light SemiCondensed" panose="020B0502040204020203" pitchFamily="34" charset="0"/>
              </a:rPr>
              <a:t>olarak</a:t>
            </a:r>
            <a:r>
              <a:rPr lang="en-US" dirty="0">
                <a:latin typeface="Bahnschrift Light SemiCondensed" panose="020B0502040204020203" pitchFamily="34" charset="0"/>
              </a:rPr>
              <a:t> </a:t>
            </a:r>
            <a:r>
              <a:rPr lang="en-US" dirty="0" err="1">
                <a:latin typeface="Bahnschrift Light SemiCondensed" panose="020B0502040204020203" pitchFamily="34" charset="0"/>
              </a:rPr>
              <a:t>sınıflandırabilen</a:t>
            </a:r>
            <a:r>
              <a:rPr lang="en-US" dirty="0">
                <a:latin typeface="Bahnschrift Light SemiCondensed" panose="020B0502040204020203" pitchFamily="34" charset="0"/>
              </a:rPr>
              <a:t> BERT </a:t>
            </a:r>
            <a:r>
              <a:rPr lang="en-US" dirty="0" err="1">
                <a:latin typeface="Bahnschrift Light SemiCondensed" panose="020B0502040204020203" pitchFamily="34" charset="0"/>
              </a:rPr>
              <a:t>tabanlı</a:t>
            </a:r>
            <a:r>
              <a:rPr lang="en-US" dirty="0">
                <a:latin typeface="Bahnschrift Light SemiCondensed" panose="020B0502040204020203" pitchFamily="34" charset="0"/>
              </a:rPr>
              <a:t> </a:t>
            </a:r>
            <a:r>
              <a:rPr lang="en-US" dirty="0" err="1">
                <a:latin typeface="Bahnschrift Light SemiCondensed" panose="020B0502040204020203" pitchFamily="34" charset="0"/>
              </a:rPr>
              <a:t>bir</a:t>
            </a:r>
            <a:r>
              <a:rPr lang="en-US" dirty="0">
                <a:latin typeface="Bahnschrift Light SemiCondensed" panose="020B0502040204020203" pitchFamily="34" charset="0"/>
              </a:rPr>
              <a:t> </a:t>
            </a:r>
            <a:r>
              <a:rPr lang="en-US" dirty="0" err="1">
                <a:latin typeface="Bahnschrift Light SemiCondensed" panose="020B0502040204020203" pitchFamily="34" charset="0"/>
              </a:rPr>
              <a:t>derin</a:t>
            </a:r>
            <a:r>
              <a:rPr lang="en-US" dirty="0">
                <a:latin typeface="Bahnschrift Light SemiCondensed" panose="020B0502040204020203" pitchFamily="34" charset="0"/>
              </a:rPr>
              <a:t> </a:t>
            </a:r>
            <a:r>
              <a:rPr lang="en-US" dirty="0" err="1">
                <a:latin typeface="Bahnschrift Light SemiCondensed" panose="020B0502040204020203" pitchFamily="34" charset="0"/>
              </a:rPr>
              <a:t>öğrenme</a:t>
            </a:r>
            <a:r>
              <a:rPr lang="en-US" dirty="0">
                <a:latin typeface="Bahnschrift Light SemiCondensed" panose="020B0502040204020203" pitchFamily="34" charset="0"/>
              </a:rPr>
              <a:t> </a:t>
            </a:r>
            <a:r>
              <a:rPr lang="en-US" dirty="0" err="1">
                <a:latin typeface="Bahnschrift Light SemiCondensed" panose="020B0502040204020203" pitchFamily="34" charset="0"/>
              </a:rPr>
              <a:t>modeli</a:t>
            </a:r>
            <a:r>
              <a:rPr lang="en-US" dirty="0">
                <a:latin typeface="Bahnschrift Light SemiCondensed" panose="020B0502040204020203" pitchFamily="34" charset="0"/>
              </a:rPr>
              <a:t> </a:t>
            </a:r>
            <a:r>
              <a:rPr lang="en-US" dirty="0" err="1">
                <a:latin typeface="Bahnschrift Light SemiCondensed" panose="020B0502040204020203" pitchFamily="34" charset="0"/>
              </a:rPr>
              <a:t>geliştirilmiştir</a:t>
            </a:r>
            <a:r>
              <a:rPr lang="en-US" dirty="0">
                <a:latin typeface="Bahnschrift Light SemiCondensed" panose="020B0502040204020203" pitchFamily="34" charset="0"/>
              </a:rPr>
              <a:t>. </a:t>
            </a:r>
            <a:r>
              <a:rPr lang="en-US" dirty="0" err="1">
                <a:latin typeface="Bahnschrift Light SemiCondensed" panose="020B0502040204020203" pitchFamily="34" charset="0"/>
              </a:rPr>
              <a:t>Elde</a:t>
            </a:r>
            <a:r>
              <a:rPr lang="en-US" dirty="0">
                <a:latin typeface="Bahnschrift Light SemiCondensed" panose="020B0502040204020203" pitchFamily="34" charset="0"/>
              </a:rPr>
              <a:t> </a:t>
            </a:r>
            <a:r>
              <a:rPr lang="en-US" dirty="0" err="1">
                <a:latin typeface="Bahnschrift Light SemiCondensed" panose="020B0502040204020203" pitchFamily="34" charset="0"/>
              </a:rPr>
              <a:t>edilen</a:t>
            </a:r>
            <a:r>
              <a:rPr lang="en-US" dirty="0">
                <a:latin typeface="Bahnschrift Light SemiCondensed" panose="020B0502040204020203" pitchFamily="34" charset="0"/>
              </a:rPr>
              <a:t> </a:t>
            </a:r>
            <a:r>
              <a:rPr lang="en-US" dirty="0" err="1">
                <a:latin typeface="Bahnschrift Light SemiCondensed" panose="020B0502040204020203" pitchFamily="34" charset="0"/>
              </a:rPr>
              <a:t>sonuçlar</a:t>
            </a:r>
            <a:r>
              <a:rPr lang="en-US" dirty="0">
                <a:latin typeface="Bahnschrift Light SemiCondensed" panose="020B0502040204020203" pitchFamily="34" charset="0"/>
              </a:rPr>
              <a:t>, </a:t>
            </a:r>
            <a:r>
              <a:rPr lang="en-US" dirty="0" err="1">
                <a:latin typeface="Bahnschrift Light SemiCondensed" panose="020B0502040204020203" pitchFamily="34" charset="0"/>
              </a:rPr>
              <a:t>modelin</a:t>
            </a:r>
            <a:r>
              <a:rPr lang="en-US" dirty="0">
                <a:latin typeface="Bahnschrift Light SemiCondensed" panose="020B0502040204020203" pitchFamily="34" charset="0"/>
              </a:rPr>
              <a:t> </a:t>
            </a:r>
            <a:r>
              <a:rPr lang="en-US" dirty="0" err="1">
                <a:latin typeface="Bahnschrift Light SemiCondensed" panose="020B0502040204020203" pitchFamily="34" charset="0"/>
              </a:rPr>
              <a:t>yüksek</a:t>
            </a:r>
            <a:r>
              <a:rPr lang="en-US" dirty="0">
                <a:latin typeface="Bahnschrift Light SemiCondensed" panose="020B0502040204020203" pitchFamily="34" charset="0"/>
              </a:rPr>
              <a:t> </a:t>
            </a:r>
            <a:r>
              <a:rPr lang="en-US" dirty="0" err="1">
                <a:latin typeface="Bahnschrift Light SemiCondensed" panose="020B0502040204020203" pitchFamily="34" charset="0"/>
              </a:rPr>
              <a:t>doğruluk</a:t>
            </a:r>
            <a:r>
              <a:rPr lang="en-US" dirty="0">
                <a:latin typeface="Bahnschrift Light SemiCondensed" panose="020B0502040204020203" pitchFamily="34" charset="0"/>
              </a:rPr>
              <a:t> </a:t>
            </a:r>
            <a:r>
              <a:rPr lang="en-US" dirty="0" err="1">
                <a:latin typeface="Bahnschrift Light SemiCondensed" panose="020B0502040204020203" pitchFamily="34" charset="0"/>
              </a:rPr>
              <a:t>ve</a:t>
            </a:r>
            <a:r>
              <a:rPr lang="en-US" dirty="0">
                <a:latin typeface="Bahnschrift Light SemiCondensed" panose="020B0502040204020203" pitchFamily="34" charset="0"/>
              </a:rPr>
              <a:t> </a:t>
            </a:r>
            <a:r>
              <a:rPr lang="en-US" dirty="0" err="1">
                <a:latin typeface="Bahnschrift Light SemiCondensed" panose="020B0502040204020203" pitchFamily="34" charset="0"/>
              </a:rPr>
              <a:t>dengeli</a:t>
            </a:r>
            <a:r>
              <a:rPr lang="en-US" dirty="0">
                <a:latin typeface="Bahnschrift Light SemiCondensed" panose="020B0502040204020203" pitchFamily="34" charset="0"/>
              </a:rPr>
              <a:t> </a:t>
            </a:r>
            <a:r>
              <a:rPr lang="en-US" dirty="0" err="1">
                <a:latin typeface="Bahnschrift Light SemiCondensed" panose="020B0502040204020203" pitchFamily="34" charset="0"/>
              </a:rPr>
              <a:t>performans</a:t>
            </a:r>
            <a:r>
              <a:rPr lang="en-US" dirty="0">
                <a:latin typeface="Bahnschrift Light SemiCondensed" panose="020B0502040204020203" pitchFamily="34" charset="0"/>
              </a:rPr>
              <a:t> </a:t>
            </a:r>
            <a:r>
              <a:rPr lang="en-US" dirty="0" err="1">
                <a:latin typeface="Bahnschrift Light SemiCondensed" panose="020B0502040204020203" pitchFamily="34" charset="0"/>
              </a:rPr>
              <a:t>ile</a:t>
            </a:r>
            <a:r>
              <a:rPr lang="en-US" dirty="0">
                <a:latin typeface="Bahnschrift Light SemiCondensed" panose="020B0502040204020203" pitchFamily="34" charset="0"/>
              </a:rPr>
              <a:t> </a:t>
            </a:r>
            <a:r>
              <a:rPr lang="en-US" dirty="0" err="1">
                <a:latin typeface="Bahnschrift Light SemiCondensed" panose="020B0502040204020203" pitchFamily="34" charset="0"/>
              </a:rPr>
              <a:t>çalıştığını</a:t>
            </a:r>
            <a:r>
              <a:rPr lang="en-US" dirty="0">
                <a:latin typeface="Bahnschrift Light SemiCondensed" panose="020B0502040204020203" pitchFamily="34" charset="0"/>
              </a:rPr>
              <a:t> </a:t>
            </a:r>
            <a:r>
              <a:rPr lang="en-US" dirty="0" err="1">
                <a:latin typeface="Bahnschrift Light SemiCondensed" panose="020B0502040204020203" pitchFamily="34" charset="0"/>
              </a:rPr>
              <a:t>göstermektedir</a:t>
            </a:r>
            <a:r>
              <a:rPr lang="en-US" dirty="0">
                <a:latin typeface="Bahnschrift Light SemiCondensed" panose="020B0502040204020203" pitchFamily="34" charset="0"/>
              </a:rPr>
              <a:t>.</a:t>
            </a:r>
          </a:p>
          <a:p>
            <a:r>
              <a:rPr lang="tr-TR" dirty="0">
                <a:latin typeface="Bahnschrift Light SemiCondensed" panose="020B0502040204020203" pitchFamily="34" charset="0"/>
              </a:rPr>
              <a:t>  </a:t>
            </a:r>
            <a:r>
              <a:rPr lang="en-US" dirty="0" err="1">
                <a:latin typeface="Bahnschrift Light SemiCondensed" panose="020B0502040204020203" pitchFamily="34" charset="0"/>
              </a:rPr>
              <a:t>Geliştirilen</a:t>
            </a:r>
            <a:r>
              <a:rPr lang="en-US" dirty="0">
                <a:latin typeface="Bahnschrift Light SemiCondensed" panose="020B0502040204020203" pitchFamily="34" charset="0"/>
              </a:rPr>
              <a:t> </a:t>
            </a:r>
            <a:r>
              <a:rPr lang="en-US" dirty="0" err="1">
                <a:latin typeface="Bahnschrift Light SemiCondensed" panose="020B0502040204020203" pitchFamily="34" charset="0"/>
              </a:rPr>
              <a:t>sistem</a:t>
            </a:r>
            <a:r>
              <a:rPr lang="en-US" dirty="0">
                <a:latin typeface="Bahnschrift Light SemiCondensed" panose="020B0502040204020203" pitchFamily="34" charset="0"/>
              </a:rPr>
              <a:t>, </a:t>
            </a:r>
            <a:r>
              <a:rPr lang="en-US" dirty="0" err="1">
                <a:latin typeface="Bahnschrift Light SemiCondensed" panose="020B0502040204020203" pitchFamily="34" charset="0"/>
              </a:rPr>
              <a:t>müşteri</a:t>
            </a:r>
            <a:r>
              <a:rPr lang="en-US" dirty="0">
                <a:latin typeface="Bahnschrift Light SemiCondensed" panose="020B0502040204020203" pitchFamily="34" charset="0"/>
              </a:rPr>
              <a:t> </a:t>
            </a:r>
            <a:r>
              <a:rPr lang="en-US" dirty="0" err="1">
                <a:latin typeface="Bahnschrift Light SemiCondensed" panose="020B0502040204020203" pitchFamily="34" charset="0"/>
              </a:rPr>
              <a:t>geri</a:t>
            </a:r>
            <a:r>
              <a:rPr lang="en-US" dirty="0">
                <a:latin typeface="Bahnschrift Light SemiCondensed" panose="020B0502040204020203" pitchFamily="34" charset="0"/>
              </a:rPr>
              <a:t> </a:t>
            </a:r>
            <a:r>
              <a:rPr lang="en-US" dirty="0" err="1">
                <a:latin typeface="Bahnschrift Light SemiCondensed" panose="020B0502040204020203" pitchFamily="34" charset="0"/>
              </a:rPr>
              <a:t>bildirimlerini</a:t>
            </a:r>
            <a:r>
              <a:rPr lang="en-US" dirty="0">
                <a:latin typeface="Bahnschrift Light SemiCondensed" panose="020B0502040204020203" pitchFamily="34" charset="0"/>
              </a:rPr>
              <a:t> </a:t>
            </a:r>
            <a:r>
              <a:rPr lang="en-US" dirty="0" err="1">
                <a:latin typeface="Bahnschrift Light SemiCondensed" panose="020B0502040204020203" pitchFamily="34" charset="0"/>
              </a:rPr>
              <a:t>hızlı</a:t>
            </a:r>
            <a:r>
              <a:rPr lang="en-US" dirty="0">
                <a:latin typeface="Bahnschrift Light SemiCondensed" panose="020B0502040204020203" pitchFamily="34" charset="0"/>
              </a:rPr>
              <a:t> </a:t>
            </a:r>
            <a:r>
              <a:rPr lang="en-US" dirty="0" err="1">
                <a:latin typeface="Bahnschrift Light SemiCondensed" panose="020B0502040204020203" pitchFamily="34" charset="0"/>
              </a:rPr>
              <a:t>ve</a:t>
            </a:r>
            <a:r>
              <a:rPr lang="en-US" dirty="0">
                <a:latin typeface="Bahnschrift Light SemiCondensed" panose="020B0502040204020203" pitchFamily="34" charset="0"/>
              </a:rPr>
              <a:t> </a:t>
            </a:r>
            <a:r>
              <a:rPr lang="en-US" dirty="0" err="1">
                <a:latin typeface="Bahnschrift Light SemiCondensed" panose="020B0502040204020203" pitchFamily="34" charset="0"/>
              </a:rPr>
              <a:t>doğru</a:t>
            </a:r>
            <a:r>
              <a:rPr lang="en-US" dirty="0">
                <a:latin typeface="Bahnschrift Light SemiCondensed" panose="020B0502040204020203" pitchFamily="34" charset="0"/>
              </a:rPr>
              <a:t> </a:t>
            </a:r>
            <a:r>
              <a:rPr lang="en-US" dirty="0" err="1">
                <a:latin typeface="Bahnschrift Light SemiCondensed" panose="020B0502040204020203" pitchFamily="34" charset="0"/>
              </a:rPr>
              <a:t>bir</a:t>
            </a:r>
            <a:r>
              <a:rPr lang="en-US" dirty="0">
                <a:latin typeface="Bahnschrift Light SemiCondensed" panose="020B0502040204020203" pitchFamily="34" charset="0"/>
              </a:rPr>
              <a:t> </a:t>
            </a:r>
            <a:r>
              <a:rPr lang="en-US" dirty="0" err="1">
                <a:latin typeface="Bahnschrift Light SemiCondensed" panose="020B0502040204020203" pitchFamily="34" charset="0"/>
              </a:rPr>
              <a:t>şekilde</a:t>
            </a:r>
            <a:r>
              <a:rPr lang="en-US" dirty="0">
                <a:latin typeface="Bahnschrift Light SemiCondensed" panose="020B0502040204020203" pitchFamily="34" charset="0"/>
              </a:rPr>
              <a:t> </a:t>
            </a:r>
            <a:r>
              <a:rPr lang="en-US" dirty="0" err="1">
                <a:latin typeface="Bahnschrift Light SemiCondensed" panose="020B0502040204020203" pitchFamily="34" charset="0"/>
              </a:rPr>
              <a:t>analiz</a:t>
            </a:r>
            <a:r>
              <a:rPr lang="en-US" dirty="0">
                <a:latin typeface="Bahnschrift Light SemiCondensed" panose="020B0502040204020203" pitchFamily="34" charset="0"/>
              </a:rPr>
              <a:t> </a:t>
            </a:r>
            <a:r>
              <a:rPr lang="en-US" dirty="0" err="1">
                <a:latin typeface="Bahnschrift Light SemiCondensed" panose="020B0502040204020203" pitchFamily="34" charset="0"/>
              </a:rPr>
              <a:t>ederek</a:t>
            </a:r>
            <a:r>
              <a:rPr lang="en-US" dirty="0">
                <a:latin typeface="Bahnschrift Light SemiCondensed" panose="020B0502040204020203" pitchFamily="34" charset="0"/>
              </a:rPr>
              <a:t> </a:t>
            </a:r>
            <a:r>
              <a:rPr lang="en-US" dirty="0" err="1">
                <a:latin typeface="Bahnschrift Light SemiCondensed" panose="020B0502040204020203" pitchFamily="34" charset="0"/>
              </a:rPr>
              <a:t>ilgili</a:t>
            </a:r>
            <a:r>
              <a:rPr lang="en-US" dirty="0">
                <a:latin typeface="Bahnschrift Light SemiCondensed" panose="020B0502040204020203" pitchFamily="34" charset="0"/>
              </a:rPr>
              <a:t> </a:t>
            </a:r>
            <a:r>
              <a:rPr lang="en-US" dirty="0" err="1">
                <a:latin typeface="Bahnschrift Light SemiCondensed" panose="020B0502040204020203" pitchFamily="34" charset="0"/>
              </a:rPr>
              <a:t>departmanlara</a:t>
            </a:r>
            <a:r>
              <a:rPr lang="en-US" dirty="0">
                <a:latin typeface="Bahnschrift Light SemiCondensed" panose="020B0502040204020203" pitchFamily="34" charset="0"/>
              </a:rPr>
              <a:t> </a:t>
            </a:r>
            <a:r>
              <a:rPr lang="en-US" dirty="0" err="1">
                <a:latin typeface="Bahnschrift Light SemiCondensed" panose="020B0502040204020203" pitchFamily="34" charset="0"/>
              </a:rPr>
              <a:t>yönlendirme</a:t>
            </a:r>
            <a:r>
              <a:rPr lang="en-US" dirty="0">
                <a:latin typeface="Bahnschrift Light SemiCondensed" panose="020B0502040204020203" pitchFamily="34" charset="0"/>
              </a:rPr>
              <a:t> </a:t>
            </a:r>
            <a:r>
              <a:rPr lang="en-US" dirty="0" err="1">
                <a:latin typeface="Bahnschrift Light SemiCondensed" panose="020B0502040204020203" pitchFamily="34" charset="0"/>
              </a:rPr>
              <a:t>potansiyeline</a:t>
            </a:r>
            <a:r>
              <a:rPr lang="en-US" dirty="0">
                <a:latin typeface="Bahnschrift Light SemiCondensed" panose="020B0502040204020203" pitchFamily="34" charset="0"/>
              </a:rPr>
              <a:t> </a:t>
            </a:r>
            <a:r>
              <a:rPr lang="en-US" dirty="0" err="1">
                <a:latin typeface="Bahnschrift Light SemiCondensed" panose="020B0502040204020203" pitchFamily="34" charset="0"/>
              </a:rPr>
              <a:t>sahiptir</a:t>
            </a:r>
            <a:r>
              <a:rPr lang="en-US" dirty="0">
                <a:latin typeface="Bahnschrift Light SemiCondensed" panose="020B0502040204020203" pitchFamily="34" charset="0"/>
              </a:rPr>
              <a:t>. Bu </a:t>
            </a:r>
            <a:r>
              <a:rPr lang="en-US" dirty="0" err="1">
                <a:latin typeface="Bahnschrift Light SemiCondensed" panose="020B0502040204020203" pitchFamily="34" charset="0"/>
              </a:rPr>
              <a:t>sayede</a:t>
            </a:r>
            <a:r>
              <a:rPr lang="en-US" dirty="0">
                <a:latin typeface="Bahnschrift Light SemiCondensed" panose="020B0502040204020203" pitchFamily="34" charset="0"/>
              </a:rPr>
              <a:t> </a:t>
            </a:r>
            <a:r>
              <a:rPr lang="en-US" dirty="0" err="1">
                <a:latin typeface="Bahnschrift Light SemiCondensed" panose="020B0502040204020203" pitchFamily="34" charset="0"/>
              </a:rPr>
              <a:t>müşteri</a:t>
            </a:r>
            <a:r>
              <a:rPr lang="en-US" dirty="0">
                <a:latin typeface="Bahnschrift Light SemiCondensed" panose="020B0502040204020203" pitchFamily="34" charset="0"/>
              </a:rPr>
              <a:t> </a:t>
            </a:r>
            <a:r>
              <a:rPr lang="en-US" dirty="0" err="1">
                <a:latin typeface="Bahnschrift Light SemiCondensed" panose="020B0502040204020203" pitchFamily="34" charset="0"/>
              </a:rPr>
              <a:t>hizmetleri</a:t>
            </a:r>
            <a:r>
              <a:rPr lang="en-US" dirty="0">
                <a:latin typeface="Bahnschrift Light SemiCondensed" panose="020B0502040204020203" pitchFamily="34" charset="0"/>
              </a:rPr>
              <a:t> </a:t>
            </a:r>
            <a:r>
              <a:rPr lang="en-US" dirty="0" err="1">
                <a:latin typeface="Bahnschrift Light SemiCondensed" panose="020B0502040204020203" pitchFamily="34" charset="0"/>
              </a:rPr>
              <a:t>süreçlerinin</a:t>
            </a:r>
            <a:r>
              <a:rPr lang="en-US" dirty="0">
                <a:latin typeface="Bahnschrift Light SemiCondensed" panose="020B0502040204020203" pitchFamily="34" charset="0"/>
              </a:rPr>
              <a:t> </a:t>
            </a:r>
            <a:r>
              <a:rPr lang="en-US" dirty="0" err="1">
                <a:latin typeface="Bahnschrift Light SemiCondensed" panose="020B0502040204020203" pitchFamily="34" charset="0"/>
              </a:rPr>
              <a:t>daha</a:t>
            </a:r>
            <a:r>
              <a:rPr lang="en-US" dirty="0">
                <a:latin typeface="Bahnschrift Light SemiCondensed" panose="020B0502040204020203" pitchFamily="34" charset="0"/>
              </a:rPr>
              <a:t> </a:t>
            </a:r>
            <a:r>
              <a:rPr lang="en-US" dirty="0" err="1">
                <a:latin typeface="Bahnschrift Light SemiCondensed" panose="020B0502040204020203" pitchFamily="34" charset="0"/>
              </a:rPr>
              <a:t>verimli</a:t>
            </a:r>
            <a:r>
              <a:rPr lang="en-US" dirty="0">
                <a:latin typeface="Bahnschrift Light SemiCondensed" panose="020B0502040204020203" pitchFamily="34" charset="0"/>
              </a:rPr>
              <a:t> </a:t>
            </a:r>
            <a:r>
              <a:rPr lang="en-US" dirty="0" err="1">
                <a:latin typeface="Bahnschrift Light SemiCondensed" panose="020B0502040204020203" pitchFamily="34" charset="0"/>
              </a:rPr>
              <a:t>ve</a:t>
            </a:r>
            <a:r>
              <a:rPr lang="en-US" dirty="0">
                <a:latin typeface="Bahnschrift Light SemiCondensed" panose="020B0502040204020203" pitchFamily="34" charset="0"/>
              </a:rPr>
              <a:t> </a:t>
            </a:r>
            <a:r>
              <a:rPr lang="en-US" dirty="0" err="1">
                <a:latin typeface="Bahnschrift Light SemiCondensed" panose="020B0502040204020203" pitchFamily="34" charset="0"/>
              </a:rPr>
              <a:t>otomatik</a:t>
            </a:r>
            <a:r>
              <a:rPr lang="en-US" dirty="0">
                <a:latin typeface="Bahnschrift Light SemiCondensed" panose="020B0502040204020203" pitchFamily="34" charset="0"/>
              </a:rPr>
              <a:t> hale </a:t>
            </a:r>
            <a:r>
              <a:rPr lang="en-US" dirty="0" err="1">
                <a:latin typeface="Bahnschrift Light SemiCondensed" panose="020B0502040204020203" pitchFamily="34" charset="0"/>
              </a:rPr>
              <a:t>getirilmesi</a:t>
            </a:r>
            <a:r>
              <a:rPr lang="en-US" dirty="0">
                <a:latin typeface="Bahnschrift Light SemiCondensed" panose="020B0502040204020203" pitchFamily="34" charset="0"/>
              </a:rPr>
              <a:t> </a:t>
            </a:r>
            <a:r>
              <a:rPr lang="en-US" dirty="0" err="1">
                <a:latin typeface="Bahnschrift Light SemiCondensed" panose="020B0502040204020203" pitchFamily="34" charset="0"/>
              </a:rPr>
              <a:t>mümkün</a:t>
            </a:r>
            <a:r>
              <a:rPr lang="en-US" dirty="0">
                <a:latin typeface="Bahnschrift Light SemiCondensed" panose="020B0502040204020203" pitchFamily="34" charset="0"/>
              </a:rPr>
              <a:t> </a:t>
            </a:r>
            <a:r>
              <a:rPr lang="en-US" dirty="0" err="1">
                <a:latin typeface="Bahnschrift Light SemiCondensed" panose="020B0502040204020203" pitchFamily="34" charset="0"/>
              </a:rPr>
              <a:t>olmaktadır</a:t>
            </a:r>
            <a:r>
              <a:rPr lang="en-US" dirty="0">
                <a:latin typeface="Bahnschrift Light SemiCondensed" panose="020B0502040204020203" pitchFamily="34" charset="0"/>
              </a:rPr>
              <a:t>.</a:t>
            </a:r>
          </a:p>
          <a:p>
            <a:r>
              <a:rPr lang="tr-TR" dirty="0">
                <a:latin typeface="Bahnschrift Light SemiCondensed" panose="020B0502040204020203" pitchFamily="34" charset="0"/>
              </a:rPr>
              <a:t>  </a:t>
            </a:r>
            <a:r>
              <a:rPr lang="en-US" dirty="0" err="1">
                <a:latin typeface="Bahnschrift Light SemiCondensed" panose="020B0502040204020203" pitchFamily="34" charset="0"/>
              </a:rPr>
              <a:t>Genel</a:t>
            </a:r>
            <a:r>
              <a:rPr lang="en-US" dirty="0">
                <a:latin typeface="Bahnschrift Light SemiCondensed" panose="020B0502040204020203" pitchFamily="34" charset="0"/>
              </a:rPr>
              <a:t> </a:t>
            </a:r>
            <a:r>
              <a:rPr lang="en-US" dirty="0" err="1">
                <a:latin typeface="Bahnschrift Light SemiCondensed" panose="020B0502040204020203" pitchFamily="34" charset="0"/>
              </a:rPr>
              <a:t>olarak</a:t>
            </a:r>
            <a:r>
              <a:rPr lang="en-US" dirty="0">
                <a:latin typeface="Bahnschrift Light SemiCondensed" panose="020B0502040204020203" pitchFamily="34" charset="0"/>
              </a:rPr>
              <a:t>, BERT </a:t>
            </a:r>
            <a:r>
              <a:rPr lang="en-US" dirty="0" err="1">
                <a:latin typeface="Bahnschrift Light SemiCondensed" panose="020B0502040204020203" pitchFamily="34" charset="0"/>
              </a:rPr>
              <a:t>tabanlı</a:t>
            </a:r>
            <a:r>
              <a:rPr lang="en-US" dirty="0">
                <a:latin typeface="Bahnschrift Light SemiCondensed" panose="020B0502040204020203" pitchFamily="34" charset="0"/>
              </a:rPr>
              <a:t> </a:t>
            </a:r>
            <a:r>
              <a:rPr lang="en-US" dirty="0" err="1">
                <a:latin typeface="Bahnschrift Light SemiCondensed" panose="020B0502040204020203" pitchFamily="34" charset="0"/>
              </a:rPr>
              <a:t>yaklaşımların</a:t>
            </a:r>
            <a:r>
              <a:rPr lang="en-US" dirty="0">
                <a:latin typeface="Bahnschrift Light SemiCondensed" panose="020B0502040204020203" pitchFamily="34" charset="0"/>
              </a:rPr>
              <a:t> </a:t>
            </a:r>
            <a:r>
              <a:rPr lang="en-US" dirty="0" err="1">
                <a:latin typeface="Bahnschrift Light SemiCondensed" panose="020B0502040204020203" pitchFamily="34" charset="0"/>
              </a:rPr>
              <a:t>metin</a:t>
            </a:r>
            <a:r>
              <a:rPr lang="en-US" dirty="0">
                <a:latin typeface="Bahnschrift Light SemiCondensed" panose="020B0502040204020203" pitchFamily="34" charset="0"/>
              </a:rPr>
              <a:t> </a:t>
            </a:r>
            <a:r>
              <a:rPr lang="en-US" dirty="0" err="1">
                <a:latin typeface="Bahnschrift Light SemiCondensed" panose="020B0502040204020203" pitchFamily="34" charset="0"/>
              </a:rPr>
              <a:t>sınıflandırma</a:t>
            </a:r>
            <a:r>
              <a:rPr lang="en-US" dirty="0">
                <a:latin typeface="Bahnschrift Light SemiCondensed" panose="020B0502040204020203" pitchFamily="34" charset="0"/>
              </a:rPr>
              <a:t> </a:t>
            </a:r>
            <a:r>
              <a:rPr lang="en-US" dirty="0" err="1">
                <a:latin typeface="Bahnschrift Light SemiCondensed" panose="020B0502040204020203" pitchFamily="34" charset="0"/>
              </a:rPr>
              <a:t>problemlerinde</a:t>
            </a:r>
            <a:r>
              <a:rPr lang="en-US" dirty="0">
                <a:latin typeface="Bahnschrift Light SemiCondensed" panose="020B0502040204020203" pitchFamily="34" charset="0"/>
              </a:rPr>
              <a:t> </a:t>
            </a:r>
            <a:r>
              <a:rPr lang="en-US" dirty="0" err="1">
                <a:latin typeface="Bahnschrift Light SemiCondensed" panose="020B0502040204020203" pitchFamily="34" charset="0"/>
              </a:rPr>
              <a:t>etkili</a:t>
            </a:r>
            <a:r>
              <a:rPr lang="en-US" dirty="0">
                <a:latin typeface="Bahnschrift Light SemiCondensed" panose="020B0502040204020203" pitchFamily="34" charset="0"/>
              </a:rPr>
              <a:t> </a:t>
            </a:r>
            <a:r>
              <a:rPr lang="en-US" dirty="0" err="1">
                <a:latin typeface="Bahnschrift Light SemiCondensed" panose="020B0502040204020203" pitchFamily="34" charset="0"/>
              </a:rPr>
              <a:t>ve</a:t>
            </a:r>
            <a:r>
              <a:rPr lang="en-US" dirty="0">
                <a:latin typeface="Bahnschrift Light SemiCondensed" panose="020B0502040204020203" pitchFamily="34" charset="0"/>
              </a:rPr>
              <a:t> </a:t>
            </a:r>
            <a:r>
              <a:rPr lang="en-US" dirty="0" err="1">
                <a:latin typeface="Bahnschrift Light SemiCondensed" panose="020B0502040204020203" pitchFamily="34" charset="0"/>
              </a:rPr>
              <a:t>gerçek</a:t>
            </a:r>
            <a:r>
              <a:rPr lang="en-US" dirty="0">
                <a:latin typeface="Bahnschrift Light SemiCondensed" panose="020B0502040204020203" pitchFamily="34" charset="0"/>
              </a:rPr>
              <a:t> </a:t>
            </a:r>
            <a:r>
              <a:rPr lang="en-US" dirty="0" err="1">
                <a:latin typeface="Bahnschrift Light SemiCondensed" panose="020B0502040204020203" pitchFamily="34" charset="0"/>
              </a:rPr>
              <a:t>dünya</a:t>
            </a:r>
            <a:r>
              <a:rPr lang="en-US" dirty="0">
                <a:latin typeface="Bahnschrift Light SemiCondensed" panose="020B0502040204020203" pitchFamily="34" charset="0"/>
              </a:rPr>
              <a:t> </a:t>
            </a:r>
            <a:r>
              <a:rPr lang="en-US" dirty="0" err="1">
                <a:latin typeface="Bahnschrift Light SemiCondensed" panose="020B0502040204020203" pitchFamily="34" charset="0"/>
              </a:rPr>
              <a:t>uygulamalarına</a:t>
            </a:r>
            <a:r>
              <a:rPr lang="en-US" dirty="0">
                <a:latin typeface="Bahnschrift Light SemiCondensed" panose="020B0502040204020203" pitchFamily="34" charset="0"/>
              </a:rPr>
              <a:t> </a:t>
            </a:r>
            <a:r>
              <a:rPr lang="en-US" dirty="0" err="1">
                <a:latin typeface="Bahnschrift Light SemiCondensed" panose="020B0502040204020203" pitchFamily="34" charset="0"/>
              </a:rPr>
              <a:t>uygun</a:t>
            </a:r>
            <a:r>
              <a:rPr lang="en-US" dirty="0">
                <a:latin typeface="Bahnschrift Light SemiCondensed" panose="020B0502040204020203" pitchFamily="34" charset="0"/>
              </a:rPr>
              <a:t> </a:t>
            </a:r>
            <a:r>
              <a:rPr lang="en-US" dirty="0" err="1">
                <a:latin typeface="Bahnschrift Light SemiCondensed" panose="020B0502040204020203" pitchFamily="34" charset="0"/>
              </a:rPr>
              <a:t>çözümler</a:t>
            </a:r>
            <a:r>
              <a:rPr lang="en-US" dirty="0">
                <a:latin typeface="Bahnschrift Light SemiCondensed" panose="020B0502040204020203" pitchFamily="34" charset="0"/>
              </a:rPr>
              <a:t> </a:t>
            </a:r>
            <a:r>
              <a:rPr lang="en-US" dirty="0" err="1">
                <a:latin typeface="Bahnschrift Light SemiCondensed" panose="020B0502040204020203" pitchFamily="34" charset="0"/>
              </a:rPr>
              <a:t>sunduğu</a:t>
            </a:r>
            <a:r>
              <a:rPr lang="en-US" dirty="0">
                <a:latin typeface="Bahnschrift Light SemiCondensed" panose="020B0502040204020203" pitchFamily="34" charset="0"/>
              </a:rPr>
              <a:t> </a:t>
            </a:r>
            <a:r>
              <a:rPr lang="en-US" dirty="0" err="1">
                <a:latin typeface="Bahnschrift Light SemiCondensed" panose="020B0502040204020203" pitchFamily="34" charset="0"/>
              </a:rPr>
              <a:t>görülmüştür</a:t>
            </a:r>
            <a:r>
              <a:rPr lang="en-US" dirty="0">
                <a:latin typeface="Bahnschrift Light SemiCondensed" panose="020B0502040204020203" pitchFamily="34" charset="0"/>
              </a:rPr>
              <a:t>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52197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A1C766-8A84-4A44-B3BF-7BFDD8CB39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>
                <a:solidFill>
                  <a:schemeClr val="tx2">
                    <a:lumMod val="75000"/>
                  </a:schemeClr>
                </a:solidFill>
                <a:latin typeface="Bookman Old Style" panose="02050604050505020204" pitchFamily="18" charset="0"/>
              </a:rPr>
              <a:t>Model Test </a:t>
            </a:r>
            <a:r>
              <a:rPr lang="en-US" sz="4400" dirty="0" err="1">
                <a:solidFill>
                  <a:schemeClr val="tx2">
                    <a:lumMod val="75000"/>
                  </a:schemeClr>
                </a:solidFill>
                <a:latin typeface="Bookman Old Style" panose="02050604050505020204" pitchFamily="18" charset="0"/>
              </a:rPr>
              <a:t>Arayüzü</a:t>
            </a:r>
            <a:endParaRPr lang="en-US" sz="4400" dirty="0">
              <a:solidFill>
                <a:schemeClr val="tx2">
                  <a:lumMod val="75000"/>
                </a:schemeClr>
              </a:solidFill>
              <a:latin typeface="Bookman Old Style" panose="02050604050505020204" pitchFamily="18" charset="0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270C963-2774-1A7E-5FFE-BACCFC0340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Bahnschrift SemiLight SemiConde" panose="020B0502040204020203" pitchFamily="34" charset="0"/>
              </a:rPr>
              <a:t>  </a:t>
            </a:r>
            <a:r>
              <a:rPr lang="en-US" sz="2000" dirty="0" err="1">
                <a:latin typeface="Bahnschrift SemiLight SemiConde" panose="020B0502040204020203" pitchFamily="34" charset="0"/>
              </a:rPr>
              <a:t>Gradio</a:t>
            </a:r>
            <a:r>
              <a:rPr lang="en-US" sz="2000" dirty="0">
                <a:latin typeface="Bahnschrift SemiLight SemiConde" panose="020B0502040204020203" pitchFamily="34" charset="0"/>
              </a:rPr>
              <a:t> </a:t>
            </a:r>
            <a:r>
              <a:rPr lang="en-US" sz="2000" dirty="0" err="1">
                <a:latin typeface="Bahnschrift SemiLight SemiConde" panose="020B0502040204020203" pitchFamily="34" charset="0"/>
              </a:rPr>
              <a:t>tabanlı</a:t>
            </a:r>
            <a:r>
              <a:rPr lang="en-US" sz="2000" dirty="0">
                <a:latin typeface="Bahnschrift SemiLight SemiConde" panose="020B0502040204020203" pitchFamily="34" charset="0"/>
              </a:rPr>
              <a:t> </a:t>
            </a:r>
            <a:r>
              <a:rPr lang="en-US" sz="2000" dirty="0" err="1">
                <a:latin typeface="Bahnschrift SemiLight SemiConde" panose="020B0502040204020203" pitchFamily="34" charset="0"/>
              </a:rPr>
              <a:t>bir</a:t>
            </a:r>
            <a:r>
              <a:rPr lang="en-US" sz="2000" dirty="0">
                <a:latin typeface="Bahnschrift SemiLight SemiConde" panose="020B0502040204020203" pitchFamily="34" charset="0"/>
              </a:rPr>
              <a:t> test </a:t>
            </a:r>
            <a:r>
              <a:rPr lang="en-US" sz="2000" dirty="0" err="1">
                <a:latin typeface="Bahnschrift SemiLight SemiConde" panose="020B0502040204020203" pitchFamily="34" charset="0"/>
              </a:rPr>
              <a:t>arayüzü</a:t>
            </a:r>
            <a:r>
              <a:rPr lang="en-US" sz="2000" dirty="0">
                <a:latin typeface="Bahnschrift SemiLight SemiConde" panose="020B0502040204020203" pitchFamily="34" charset="0"/>
              </a:rPr>
              <a:t> </a:t>
            </a:r>
            <a:r>
              <a:rPr lang="en-US" sz="2000" dirty="0" err="1">
                <a:latin typeface="Bahnschrift SemiLight SemiConde" panose="020B0502040204020203" pitchFamily="34" charset="0"/>
              </a:rPr>
              <a:t>geliştirilerek</a:t>
            </a:r>
            <a:r>
              <a:rPr lang="en-US" sz="2000" dirty="0">
                <a:latin typeface="Bahnschrift SemiLight SemiConde" panose="020B0502040204020203" pitchFamily="34" charset="0"/>
              </a:rPr>
              <a:t> </a:t>
            </a:r>
            <a:r>
              <a:rPr lang="en-US" sz="2000" dirty="0" err="1">
                <a:latin typeface="Bahnschrift SemiLight SemiConde" panose="020B0502040204020203" pitchFamily="34" charset="0"/>
              </a:rPr>
              <a:t>modelin</a:t>
            </a:r>
            <a:r>
              <a:rPr lang="en-US" sz="2000" dirty="0">
                <a:latin typeface="Bahnschrift SemiLight SemiConde" panose="020B0502040204020203" pitchFamily="34" charset="0"/>
              </a:rPr>
              <a:t> </a:t>
            </a:r>
            <a:r>
              <a:rPr lang="en-US" sz="2000" dirty="0" err="1">
                <a:latin typeface="Bahnschrift SemiLight SemiConde" panose="020B0502040204020203" pitchFamily="34" charset="0"/>
              </a:rPr>
              <a:t>gerçek</a:t>
            </a:r>
            <a:r>
              <a:rPr lang="en-US" sz="2000" dirty="0">
                <a:latin typeface="Bahnschrift SemiLight SemiConde" panose="020B0502040204020203" pitchFamily="34" charset="0"/>
              </a:rPr>
              <a:t> </a:t>
            </a:r>
            <a:r>
              <a:rPr lang="en-US" sz="2000" dirty="0" err="1">
                <a:latin typeface="Bahnschrift SemiLight SemiConde" panose="020B0502040204020203" pitchFamily="34" charset="0"/>
              </a:rPr>
              <a:t>zamanlı</a:t>
            </a:r>
            <a:r>
              <a:rPr lang="en-US" sz="2000" dirty="0">
                <a:latin typeface="Bahnschrift SemiLight SemiConde" panose="020B0502040204020203" pitchFamily="34" charset="0"/>
              </a:rPr>
              <a:t> </a:t>
            </a:r>
            <a:r>
              <a:rPr lang="en-US" sz="2000" dirty="0" err="1">
                <a:latin typeface="Bahnschrift SemiLight SemiConde" panose="020B0502040204020203" pitchFamily="34" charset="0"/>
              </a:rPr>
              <a:t>olarak</a:t>
            </a:r>
            <a:r>
              <a:rPr lang="en-US" sz="2000" dirty="0">
                <a:latin typeface="Bahnschrift SemiLight SemiConde" panose="020B0502040204020203" pitchFamily="34" charset="0"/>
              </a:rPr>
              <a:t> </a:t>
            </a:r>
            <a:r>
              <a:rPr lang="en-US" sz="2000" dirty="0" err="1">
                <a:latin typeface="Bahnschrift SemiLight SemiConde" panose="020B0502040204020203" pitchFamily="34" charset="0"/>
              </a:rPr>
              <a:t>denenmesi</a:t>
            </a:r>
            <a:r>
              <a:rPr lang="en-US" sz="2000" dirty="0">
                <a:latin typeface="Bahnschrift SemiLight SemiConde" panose="020B0502040204020203" pitchFamily="34" charset="0"/>
              </a:rPr>
              <a:t> </a:t>
            </a:r>
            <a:r>
              <a:rPr lang="en-US" sz="2000" dirty="0" err="1">
                <a:latin typeface="Bahnschrift SemiLight SemiConde" panose="020B0502040204020203" pitchFamily="34" charset="0"/>
              </a:rPr>
              <a:t>sağlanmıştır</a:t>
            </a:r>
            <a:r>
              <a:rPr lang="en-US" sz="2000" dirty="0">
                <a:latin typeface="Bahnschrift SemiLight SemiConde" panose="020B0502040204020203" pitchFamily="34" charset="0"/>
              </a:rPr>
              <a:t>. </a:t>
            </a:r>
            <a:r>
              <a:rPr lang="en-US" sz="2000" dirty="0" err="1">
                <a:latin typeface="Bahnschrift SemiLight SemiConde" panose="020B0502040204020203" pitchFamily="34" charset="0"/>
              </a:rPr>
              <a:t>Kullanıcılar</a:t>
            </a:r>
            <a:r>
              <a:rPr lang="en-US" sz="2000" dirty="0">
                <a:latin typeface="Bahnschrift SemiLight SemiConde" panose="020B0502040204020203" pitchFamily="34" charset="0"/>
              </a:rPr>
              <a:t>, </a:t>
            </a:r>
            <a:r>
              <a:rPr lang="en-US" sz="2000" dirty="0" err="1">
                <a:latin typeface="Bahnschrift SemiLight SemiConde" panose="020B0502040204020203" pitchFamily="34" charset="0"/>
              </a:rPr>
              <a:t>sisteme</a:t>
            </a:r>
            <a:r>
              <a:rPr lang="en-US" sz="2000" dirty="0">
                <a:latin typeface="Bahnschrift SemiLight SemiConde" panose="020B0502040204020203" pitchFamily="34" charset="0"/>
              </a:rPr>
              <a:t> </a:t>
            </a:r>
            <a:r>
              <a:rPr lang="en-US" sz="2000" dirty="0" err="1">
                <a:latin typeface="Bahnschrift SemiLight SemiConde" panose="020B0502040204020203" pitchFamily="34" charset="0"/>
              </a:rPr>
              <a:t>girdikleri</a:t>
            </a:r>
            <a:r>
              <a:rPr lang="en-US" sz="2000" dirty="0">
                <a:latin typeface="Bahnschrift SemiLight SemiConde" panose="020B0502040204020203" pitchFamily="34" charset="0"/>
              </a:rPr>
              <a:t> </a:t>
            </a:r>
            <a:r>
              <a:rPr lang="en-US" sz="2000" dirty="0" err="1">
                <a:latin typeface="Bahnschrift SemiLight SemiConde" panose="020B0502040204020203" pitchFamily="34" charset="0"/>
              </a:rPr>
              <a:t>belediye</a:t>
            </a:r>
            <a:r>
              <a:rPr lang="en-US" sz="2000" dirty="0">
                <a:latin typeface="Bahnschrift SemiLight SemiConde" panose="020B0502040204020203" pitchFamily="34" charset="0"/>
              </a:rPr>
              <a:t> </a:t>
            </a:r>
            <a:r>
              <a:rPr lang="en-US" sz="2000" dirty="0" err="1">
                <a:latin typeface="Bahnschrift SemiLight SemiConde" panose="020B0502040204020203" pitchFamily="34" charset="0"/>
              </a:rPr>
              <a:t>şikayet</a:t>
            </a:r>
            <a:r>
              <a:rPr lang="en-US" sz="2000" dirty="0">
                <a:latin typeface="Bahnschrift SemiLight SemiConde" panose="020B0502040204020203" pitchFamily="34" charset="0"/>
              </a:rPr>
              <a:t> </a:t>
            </a:r>
            <a:r>
              <a:rPr lang="en-US" sz="2000" dirty="0" err="1">
                <a:latin typeface="Bahnschrift SemiLight SemiConde" panose="020B0502040204020203" pitchFamily="34" charset="0"/>
              </a:rPr>
              <a:t>metinlerinin</a:t>
            </a:r>
            <a:r>
              <a:rPr lang="en-US" sz="2000" dirty="0">
                <a:latin typeface="Bahnschrift SemiLight SemiConde" panose="020B0502040204020203" pitchFamily="34" charset="0"/>
              </a:rPr>
              <a:t> hangi </a:t>
            </a:r>
            <a:r>
              <a:rPr lang="en-US" sz="2000" dirty="0" err="1">
                <a:latin typeface="Bahnschrift SemiLight SemiConde" panose="020B0502040204020203" pitchFamily="34" charset="0"/>
              </a:rPr>
              <a:t>kategoriye</a:t>
            </a:r>
            <a:r>
              <a:rPr lang="en-US" sz="2000" dirty="0">
                <a:latin typeface="Bahnschrift SemiLight SemiConde" panose="020B0502040204020203" pitchFamily="34" charset="0"/>
              </a:rPr>
              <a:t> </a:t>
            </a:r>
            <a:r>
              <a:rPr lang="en-US" sz="2000" dirty="0" err="1">
                <a:latin typeface="Bahnschrift SemiLight SemiConde" panose="020B0502040204020203" pitchFamily="34" charset="0"/>
              </a:rPr>
              <a:t>ait</a:t>
            </a:r>
            <a:r>
              <a:rPr lang="en-US" sz="2000" dirty="0">
                <a:latin typeface="Bahnschrift SemiLight SemiConde" panose="020B0502040204020203" pitchFamily="34" charset="0"/>
              </a:rPr>
              <a:t> </a:t>
            </a:r>
            <a:r>
              <a:rPr lang="en-US" sz="2000" dirty="0" err="1">
                <a:latin typeface="Bahnschrift SemiLight SemiConde" panose="020B0502040204020203" pitchFamily="34" charset="0"/>
              </a:rPr>
              <a:t>olduğunu</a:t>
            </a:r>
            <a:r>
              <a:rPr lang="en-US" sz="2000" dirty="0">
                <a:latin typeface="Bahnschrift SemiLight SemiConde" panose="020B0502040204020203" pitchFamily="34" charset="0"/>
              </a:rPr>
              <a:t> </a:t>
            </a:r>
            <a:r>
              <a:rPr lang="en-US" sz="2000" dirty="0" err="1">
                <a:latin typeface="Bahnschrift SemiLight SemiConde" panose="020B0502040204020203" pitchFamily="34" charset="0"/>
              </a:rPr>
              <a:t>anlık</a:t>
            </a:r>
            <a:r>
              <a:rPr lang="en-US" sz="2000" dirty="0">
                <a:latin typeface="Bahnschrift SemiLight SemiConde" panose="020B0502040204020203" pitchFamily="34" charset="0"/>
              </a:rPr>
              <a:t> </a:t>
            </a:r>
            <a:r>
              <a:rPr lang="en-US" sz="2000" dirty="0" err="1">
                <a:latin typeface="Bahnschrift SemiLight SemiConde" panose="020B0502040204020203" pitchFamily="34" charset="0"/>
              </a:rPr>
              <a:t>olarak</a:t>
            </a:r>
            <a:r>
              <a:rPr lang="en-US" sz="2000" dirty="0">
                <a:latin typeface="Bahnschrift SemiLight SemiConde" panose="020B0502040204020203" pitchFamily="34" charset="0"/>
              </a:rPr>
              <a:t> </a:t>
            </a:r>
            <a:r>
              <a:rPr lang="en-US" sz="2000" dirty="0" err="1">
                <a:latin typeface="Bahnschrift SemiLight SemiConde" panose="020B0502040204020203" pitchFamily="34" charset="0"/>
              </a:rPr>
              <a:t>görebilmektedir</a:t>
            </a:r>
            <a:r>
              <a:rPr lang="en-US" sz="2000" dirty="0">
                <a:latin typeface="Bahnschrift SemiLight SemiConde" panose="020B0502040204020203" pitchFamily="34" charset="0"/>
              </a:rPr>
              <a:t>. Bu </a:t>
            </a:r>
            <a:r>
              <a:rPr lang="en-US" sz="2000" dirty="0" err="1">
                <a:latin typeface="Bahnschrift SemiLight SemiConde" panose="020B0502040204020203" pitchFamily="34" charset="0"/>
              </a:rPr>
              <a:t>sayede</a:t>
            </a:r>
            <a:r>
              <a:rPr lang="en-US" sz="2000" dirty="0">
                <a:latin typeface="Bahnschrift SemiLight SemiConde" panose="020B0502040204020203" pitchFamily="34" charset="0"/>
              </a:rPr>
              <a:t> </a:t>
            </a:r>
            <a:r>
              <a:rPr lang="en-US" sz="2000" dirty="0" err="1">
                <a:latin typeface="Bahnschrift SemiLight SemiConde" panose="020B0502040204020203" pitchFamily="34" charset="0"/>
              </a:rPr>
              <a:t>modelin</a:t>
            </a:r>
            <a:r>
              <a:rPr lang="en-US" sz="2000" dirty="0">
                <a:latin typeface="Bahnschrift SemiLight SemiConde" panose="020B0502040204020203" pitchFamily="34" charset="0"/>
              </a:rPr>
              <a:t> </a:t>
            </a:r>
            <a:r>
              <a:rPr lang="en-US" sz="2000" dirty="0" err="1">
                <a:latin typeface="Bahnschrift SemiLight SemiConde" panose="020B0502040204020203" pitchFamily="34" charset="0"/>
              </a:rPr>
              <a:t>pratik</a:t>
            </a:r>
            <a:r>
              <a:rPr lang="en-US" sz="2000" dirty="0">
                <a:latin typeface="Bahnschrift SemiLight SemiConde" panose="020B0502040204020203" pitchFamily="34" charset="0"/>
              </a:rPr>
              <a:t> </a:t>
            </a:r>
            <a:r>
              <a:rPr lang="en-US" sz="2000" dirty="0" err="1">
                <a:latin typeface="Bahnschrift SemiLight SemiConde" panose="020B0502040204020203" pitchFamily="34" charset="0"/>
              </a:rPr>
              <a:t>kullanım</a:t>
            </a:r>
            <a:r>
              <a:rPr lang="en-US" sz="2000" dirty="0">
                <a:latin typeface="Bahnschrift SemiLight SemiConde" panose="020B0502040204020203" pitchFamily="34" charset="0"/>
              </a:rPr>
              <a:t> </a:t>
            </a:r>
            <a:r>
              <a:rPr lang="en-US" sz="2000" dirty="0" err="1">
                <a:latin typeface="Bahnschrift SemiLight SemiConde" panose="020B0502040204020203" pitchFamily="34" charset="0"/>
              </a:rPr>
              <a:t>senaryolarındaki</a:t>
            </a:r>
            <a:r>
              <a:rPr lang="en-US" sz="2000" dirty="0">
                <a:latin typeface="Bahnschrift SemiLight SemiConde" panose="020B0502040204020203" pitchFamily="34" charset="0"/>
              </a:rPr>
              <a:t> </a:t>
            </a:r>
            <a:r>
              <a:rPr lang="en-US" sz="2000" dirty="0" err="1">
                <a:latin typeface="Bahnschrift SemiLight SemiConde" panose="020B0502040204020203" pitchFamily="34" charset="0"/>
              </a:rPr>
              <a:t>performansı</a:t>
            </a:r>
            <a:r>
              <a:rPr lang="en-US" sz="2000" dirty="0">
                <a:latin typeface="Bahnschrift SemiLight SemiConde" panose="020B0502040204020203" pitchFamily="34" charset="0"/>
              </a:rPr>
              <a:t> test </a:t>
            </a:r>
            <a:r>
              <a:rPr lang="en-US" sz="2000" dirty="0" err="1">
                <a:latin typeface="Bahnschrift SemiLight SemiConde" panose="020B0502040204020203" pitchFamily="34" charset="0"/>
              </a:rPr>
              <a:t>edilmiştir</a:t>
            </a:r>
            <a:r>
              <a:rPr lang="en-US" sz="2000" dirty="0">
                <a:latin typeface="Bahnschrift SemiLight SemiConde" panose="020B0502040204020203" pitchFamily="34" charset="0"/>
              </a:rPr>
              <a:t>.</a:t>
            </a:r>
          </a:p>
          <a:p>
            <a:endParaRPr lang="en-US" sz="2000" dirty="0">
              <a:latin typeface="Bahnschrift SemiLight SemiConde" panose="020B0502040204020203" pitchFamily="34" charset="0"/>
            </a:endParaRPr>
          </a:p>
          <a:p>
            <a:endParaRPr lang="en-US" sz="2000" dirty="0">
              <a:latin typeface="Bahnschrift SemiLight SemiConde" panose="020B0502040204020203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775AB7A-4B72-29B9-1C1F-A58765D42B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" y="3990974"/>
            <a:ext cx="7633644" cy="2519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5766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dörtgen 1"/>
          <p:cNvSpPr/>
          <p:nvPr/>
        </p:nvSpPr>
        <p:spPr>
          <a:xfrm>
            <a:off x="911117" y="2801081"/>
            <a:ext cx="930575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tr-TR" sz="5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DİNLEDİĞİNİZ İÇİN TEŞEKKÜRLER</a:t>
            </a:r>
            <a:endParaRPr lang="tr-TR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24706787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İ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36807319_TF22378848.potx" id="{FA829434-90D8-42F3-AAD8-E0ADAE141A54}" vid="{81ABD5A3-FB1B-4CAC-9DBB-9DCD23BF5CAA}"/>
    </a:ext>
  </a:extLst>
</a:theme>
</file>

<file path=ppt/theme/theme2.xml><?xml version="1.0" encoding="utf-8"?>
<a:theme xmlns:a="http://schemas.openxmlformats.org/drawingml/2006/main" name="Ofis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is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77210f24a1be23c92c90fd886aa0aa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60e05723c5c1908df1a1a4ebf11d344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F44C90D-2A62-4985-9618-3460247437B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88A2F88-55C5-4ED1-9541-807C65424763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B61EAB5F-88FC-4FAE-AE3C-037A3C365EB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İntegral tasarımı</Template>
  <TotalTime>0</TotalTime>
  <Words>657</Words>
  <Application>Microsoft Office PowerPoint</Application>
  <PresentationFormat>Widescreen</PresentationFormat>
  <Paragraphs>66</Paragraphs>
  <Slides>10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9" baseType="lpstr">
      <vt:lpstr>Bahnschrift Light</vt:lpstr>
      <vt:lpstr>Bahnschrift Light SemiCondensed</vt:lpstr>
      <vt:lpstr>Bahnschrift SemiLight SemiConde</vt:lpstr>
      <vt:lpstr>Bookman Old Style</vt:lpstr>
      <vt:lpstr>Calibri</vt:lpstr>
      <vt:lpstr>Cambria</vt:lpstr>
      <vt:lpstr>Tw Cen MT</vt:lpstr>
      <vt:lpstr>Wingdings 3</vt:lpstr>
      <vt:lpstr>İntegral</vt:lpstr>
      <vt:lpstr>MÜŞTERİ ŞİKAYETLERİ SINIFLANDIRMA</vt:lpstr>
      <vt:lpstr>Problem tanımı</vt:lpstr>
      <vt:lpstr>Amaç ve Kullanılan  Teknolojiler </vt:lpstr>
      <vt:lpstr>Veri seti</vt:lpstr>
      <vt:lpstr>Veri Ön İşleme ve Model Mimarisi</vt:lpstr>
      <vt:lpstr>Model Eğitimi ve Süreci </vt:lpstr>
      <vt:lpstr>Sonuçlar ve performans</vt:lpstr>
      <vt:lpstr>Genel değerlendirme ve özet</vt:lpstr>
      <vt:lpstr>Model Test Arayüzü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2026-04-13T22:48:14Z</dcterms:created>
  <dcterms:modified xsi:type="dcterms:W3CDTF">2026-06-22T07:35:15Z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