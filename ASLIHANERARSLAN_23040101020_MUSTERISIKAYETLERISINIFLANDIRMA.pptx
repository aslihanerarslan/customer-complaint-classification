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5" r:id="rId13"/>
  </p:sldIdLst>
  <p:sldSz cx="12192000" cy="6858000"/>
  <p:notesSz cx="6858000" cy="9144000"/>
  <p:defaultTextStyle>
    <a:defPPr rtl="0">
      <a:defRPr lang="tr-t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2932" autoAdjust="0"/>
  </p:normalViewPr>
  <p:slideViewPr>
    <p:cSldViewPr snapToGrid="0">
      <p:cViewPr varScale="1">
        <p:scale>
          <a:sx n="113" d="100"/>
          <a:sy n="113" d="100"/>
        </p:scale>
        <p:origin x="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072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tr-TR" dirty="0"/>
          </a:p>
        </p:txBody>
      </p:sp>
      <p:sp>
        <p:nvSpPr>
          <p:cNvPr id="3" name="Tarih Yer Tutucusu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AD0F65C-58C1-4A0C-9A70-9D6397237E0B}" type="datetime1">
              <a:rPr lang="tr-TR" smtClean="0"/>
              <a:t>14.04.2026</a:t>
            </a:fld>
            <a:endParaRPr lang="tr-TR" dirty="0"/>
          </a:p>
        </p:txBody>
      </p:sp>
      <p:sp>
        <p:nvSpPr>
          <p:cNvPr id="4" name="Alt Bilgi Yer Tutucusu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tr-TR" dirty="0"/>
          </a:p>
        </p:txBody>
      </p:sp>
      <p:sp>
        <p:nvSpPr>
          <p:cNvPr id="5" name="Slayt Numarası Yer Tutucusu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tr-TR" noProof="0" dirty="0"/>
          </a:p>
        </p:txBody>
      </p:sp>
      <p:sp>
        <p:nvSpPr>
          <p:cNvPr id="3" name="Tarih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5A1C90E-4B38-48D9-9ADB-1EEED4C580D5}" type="datetime1">
              <a:rPr lang="tr-TR" noProof="0" smtClean="0"/>
              <a:t>14.04.2026</a:t>
            </a:fld>
            <a:endParaRPr lang="tr-TR" noProof="0" dirty="0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tr-TR" noProof="0" dirty="0"/>
          </a:p>
        </p:txBody>
      </p:sp>
      <p:sp>
        <p:nvSpPr>
          <p:cNvPr id="5" name="Notlar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tr-TR" noProof="0" dirty="0"/>
              <a:t>Asıl metin stillerini düzenlemek için tıklayın</a:t>
            </a:r>
          </a:p>
          <a:p>
            <a:pPr lvl="1" rtl="0"/>
            <a:r>
              <a:rPr lang="tr-TR" noProof="0" dirty="0"/>
              <a:t>İkinci düzey</a:t>
            </a:r>
          </a:p>
          <a:p>
            <a:pPr lvl="2" rtl="0"/>
            <a:r>
              <a:rPr lang="tr-TR" noProof="0" dirty="0"/>
              <a:t>Üçüncü düzey</a:t>
            </a:r>
          </a:p>
          <a:p>
            <a:pPr lvl="3" rtl="0"/>
            <a:r>
              <a:rPr lang="tr-TR" noProof="0" dirty="0"/>
              <a:t>Dördüncü düzey</a:t>
            </a:r>
          </a:p>
          <a:p>
            <a:pPr lvl="4" rtl="0"/>
            <a:r>
              <a:rPr lang="tr-TR" noProof="0" dirty="0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tr-TR" noProof="0" dirty="0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tr-TR" smtClean="0"/>
              <a:t>1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tr-TR" smtClean="0"/>
              <a:t>2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ikdörtgen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Başlık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Alt Başlık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tr-TR" noProof="0" smtClean="0"/>
              <a:t>Asıl alt başlık stilini düzenlemek için tıklayın</a:t>
            </a:r>
            <a:endParaRPr lang="tr-TR" noProof="0" dirty="0"/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98DA42E9-8AC5-494B-9B81-48B259A718E2}" type="datetime1">
              <a:rPr lang="tr-TR" noProof="0" smtClean="0"/>
              <a:t>14.04.2026</a:t>
            </a:fld>
            <a:endParaRPr lang="tr-TR" noProof="0" dirty="0"/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tr-TR" noProof="0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tr-TR" noProof="0" smtClean="0"/>
              <a:t>‹#›</a:t>
            </a:fld>
            <a:endParaRPr lang="tr-TR" noProof="0" dirty="0"/>
          </a:p>
        </p:txBody>
      </p:sp>
      <p:cxnSp>
        <p:nvCxnSpPr>
          <p:cNvPr id="8" name="Düz Bağlayıcı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tr-TR" noProof="0" smtClean="0"/>
              <a:t>Asıl metin stillerini düzenle</a:t>
            </a:r>
          </a:p>
          <a:p>
            <a:pPr lvl="1" rtl="0"/>
            <a:r>
              <a:rPr lang="tr-TR" noProof="0" smtClean="0"/>
              <a:t>İkinci düzey</a:t>
            </a:r>
          </a:p>
          <a:p>
            <a:pPr lvl="2" rtl="0"/>
            <a:r>
              <a:rPr lang="tr-TR" noProof="0" smtClean="0"/>
              <a:t>Üçüncü düzey</a:t>
            </a:r>
          </a:p>
          <a:p>
            <a:pPr lvl="3" rtl="0"/>
            <a:r>
              <a:rPr lang="tr-TR" noProof="0" smtClean="0"/>
              <a:t>Dördüncü düzey</a:t>
            </a:r>
          </a:p>
          <a:p>
            <a:pPr lvl="4" rtl="0"/>
            <a:r>
              <a:rPr lang="tr-TR" noProof="0" smtClean="0"/>
              <a:t>Beşinci düzey</a:t>
            </a:r>
            <a:endParaRPr lang="tr-TR" noProof="0" dirty="0"/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8E75D30-A2CB-4E9E-B8F1-7F7F646B827E}" type="datetime1">
              <a:rPr lang="tr-TR" noProof="0" smtClean="0"/>
              <a:t>14.04.2026</a:t>
            </a:fld>
            <a:endParaRPr lang="tr-TR" noProof="0" dirty="0"/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tr-TR" noProof="0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tr-TR" noProof="0" smtClean="0"/>
              <a:t>‹#›</a:t>
            </a:fld>
            <a:endParaRPr lang="tr-TR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Bölüm Başlığ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ikdörtgen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Başlık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Metin Yer Tutucusu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tr-TR" noProof="0" smtClean="0"/>
              <a:t>Asıl metin stillerini düzenle</a:t>
            </a:r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C8503C7-0366-4312-9865-F1F5C415C5D5}" type="datetime1">
              <a:rPr lang="tr-TR" noProof="0" smtClean="0"/>
              <a:t>14.04.2026</a:t>
            </a:fld>
            <a:endParaRPr lang="tr-TR" noProof="0" dirty="0"/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tr-TR" noProof="0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tr-TR" noProof="0" smtClean="0"/>
              <a:t>‹#›</a:t>
            </a:fld>
            <a:endParaRPr lang="tr-TR" noProof="0" dirty="0"/>
          </a:p>
        </p:txBody>
      </p:sp>
      <p:cxnSp>
        <p:nvCxnSpPr>
          <p:cNvPr id="8" name="Düz Bağlayıcı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İçerik Yer Tutucusu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tr-TR" noProof="0" smtClean="0"/>
              <a:t>Asıl metin stillerini düzenle</a:t>
            </a:r>
          </a:p>
          <a:p>
            <a:pPr lvl="1" rtl="0"/>
            <a:r>
              <a:rPr lang="tr-TR" noProof="0" smtClean="0"/>
              <a:t>İkinci düzey</a:t>
            </a:r>
          </a:p>
          <a:p>
            <a:pPr lvl="2" rtl="0"/>
            <a:r>
              <a:rPr lang="tr-TR" noProof="0" smtClean="0"/>
              <a:t>Üçüncü düzey</a:t>
            </a:r>
          </a:p>
          <a:p>
            <a:pPr lvl="3" rtl="0"/>
            <a:r>
              <a:rPr lang="tr-TR" noProof="0" smtClean="0"/>
              <a:t>Dördüncü düzey</a:t>
            </a:r>
          </a:p>
          <a:p>
            <a:pPr lvl="4" rtl="0"/>
            <a:r>
              <a:rPr lang="tr-TR" noProof="0" smtClean="0"/>
              <a:t>Beşinci düzey</a:t>
            </a:r>
            <a:endParaRPr lang="tr-TR" noProof="0" dirty="0"/>
          </a:p>
        </p:txBody>
      </p:sp>
      <p:sp>
        <p:nvSpPr>
          <p:cNvPr id="4" name="İçerik Yer Tutucusu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tr-TR" noProof="0" smtClean="0"/>
              <a:t>Asıl metin stillerini düzenle</a:t>
            </a:r>
          </a:p>
          <a:p>
            <a:pPr lvl="1" rtl="0"/>
            <a:r>
              <a:rPr lang="tr-TR" noProof="0" smtClean="0"/>
              <a:t>İkinci düzey</a:t>
            </a:r>
          </a:p>
          <a:p>
            <a:pPr lvl="2" rtl="0"/>
            <a:r>
              <a:rPr lang="tr-TR" noProof="0" smtClean="0"/>
              <a:t>Üçüncü düzey</a:t>
            </a:r>
          </a:p>
          <a:p>
            <a:pPr lvl="3" rtl="0"/>
            <a:r>
              <a:rPr lang="tr-TR" noProof="0" smtClean="0"/>
              <a:t>Dördüncü düzey</a:t>
            </a:r>
          </a:p>
          <a:p>
            <a:pPr lvl="4" rtl="0"/>
            <a:r>
              <a:rPr lang="tr-TR" noProof="0" smtClean="0"/>
              <a:t>Beşinci düzey</a:t>
            </a:r>
            <a:endParaRPr lang="tr-TR" noProof="0" dirty="0"/>
          </a:p>
        </p:txBody>
      </p:sp>
      <p:sp>
        <p:nvSpPr>
          <p:cNvPr id="5" name="Tarih Yer Tutucusu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94E29BD-453F-4E5B-BD83-B3707D4BB540}" type="datetime1">
              <a:rPr lang="tr-TR" noProof="0" smtClean="0"/>
              <a:t>14.04.2026</a:t>
            </a:fld>
            <a:endParaRPr lang="tr-TR" noProof="0" dirty="0"/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tr-TR" noProof="0" dirty="0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tr-TR" noProof="0" smtClean="0"/>
              <a:t>‹#›</a:t>
            </a:fld>
            <a:endParaRPr lang="tr-TR" noProof="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şlık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Metin Yer Tutucusu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tr-TR" noProof="0" smtClean="0"/>
              <a:t>Asıl metin stillerini düzenle</a:t>
            </a:r>
          </a:p>
        </p:txBody>
      </p:sp>
      <p:sp>
        <p:nvSpPr>
          <p:cNvPr id="4" name="İçerik Yer Tutucusu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tr-TR" noProof="0" smtClean="0"/>
              <a:t>Asıl metin stillerini düzenle</a:t>
            </a:r>
          </a:p>
          <a:p>
            <a:pPr lvl="1" rtl="0"/>
            <a:r>
              <a:rPr lang="tr-TR" noProof="0" smtClean="0"/>
              <a:t>İkinci düzey</a:t>
            </a:r>
          </a:p>
          <a:p>
            <a:pPr lvl="2" rtl="0"/>
            <a:r>
              <a:rPr lang="tr-TR" noProof="0" smtClean="0"/>
              <a:t>Üçüncü düzey</a:t>
            </a:r>
          </a:p>
          <a:p>
            <a:pPr lvl="3" rtl="0"/>
            <a:r>
              <a:rPr lang="tr-TR" noProof="0" smtClean="0"/>
              <a:t>Dördüncü düzey</a:t>
            </a:r>
          </a:p>
          <a:p>
            <a:pPr lvl="4" rtl="0"/>
            <a:r>
              <a:rPr lang="tr-TR" noProof="0" smtClean="0"/>
              <a:t>Beşinci düzey</a:t>
            </a:r>
            <a:endParaRPr lang="tr-TR" noProof="0" dirty="0"/>
          </a:p>
        </p:txBody>
      </p:sp>
      <p:sp>
        <p:nvSpPr>
          <p:cNvPr id="5" name="Metin Yer Tutucusu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tr-TR" noProof="0" smtClean="0"/>
              <a:t>Asıl metin stillerini düzenle</a:t>
            </a:r>
          </a:p>
        </p:txBody>
      </p:sp>
      <p:sp>
        <p:nvSpPr>
          <p:cNvPr id="6" name="İçerik Yer Tutucusu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tr-TR" noProof="0" smtClean="0"/>
              <a:t>Asıl metin stillerini düzenle</a:t>
            </a:r>
          </a:p>
          <a:p>
            <a:pPr lvl="1" rtl="0"/>
            <a:r>
              <a:rPr lang="tr-TR" noProof="0" smtClean="0"/>
              <a:t>İkinci düzey</a:t>
            </a:r>
          </a:p>
          <a:p>
            <a:pPr lvl="2" rtl="0"/>
            <a:r>
              <a:rPr lang="tr-TR" noProof="0" smtClean="0"/>
              <a:t>Üçüncü düzey</a:t>
            </a:r>
          </a:p>
          <a:p>
            <a:pPr lvl="3" rtl="0"/>
            <a:r>
              <a:rPr lang="tr-TR" noProof="0" smtClean="0"/>
              <a:t>Dördüncü düzey</a:t>
            </a:r>
          </a:p>
          <a:p>
            <a:pPr lvl="4" rtl="0"/>
            <a:r>
              <a:rPr lang="tr-TR" noProof="0" smtClean="0"/>
              <a:t>Beşinci düzey</a:t>
            </a:r>
            <a:endParaRPr lang="tr-TR" noProof="0" dirty="0"/>
          </a:p>
        </p:txBody>
      </p:sp>
      <p:sp>
        <p:nvSpPr>
          <p:cNvPr id="7" name="Tarih Yer Tutucusu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0644985-CE54-4AF4-9C9C-801F0B8CD3E8}" type="datetime1">
              <a:rPr lang="tr-TR" noProof="0" smtClean="0"/>
              <a:t>14.04.2026</a:t>
            </a:fld>
            <a:endParaRPr lang="tr-TR" noProof="0" dirty="0"/>
          </a:p>
        </p:txBody>
      </p:sp>
      <p:sp>
        <p:nvSpPr>
          <p:cNvPr id="8" name="Alt Bilgi Yer Tutucusu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tr-TR" noProof="0" dirty="0"/>
          </a:p>
        </p:txBody>
      </p:sp>
      <p:sp>
        <p:nvSpPr>
          <p:cNvPr id="9" name="Slayt Numarası Yer Tutucusu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tr-TR" noProof="0" smtClean="0"/>
              <a:t>‹#›</a:t>
            </a:fld>
            <a:endParaRPr lang="tr-TR" noProof="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Tarih Yer Tutucusu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0D33A27-D69E-47F0-868D-6CB18AD33318}" type="datetime1">
              <a:rPr lang="tr-TR" noProof="0" smtClean="0"/>
              <a:t>14.04.2026</a:t>
            </a:fld>
            <a:endParaRPr lang="tr-TR" noProof="0" dirty="0"/>
          </a:p>
        </p:txBody>
      </p:sp>
      <p:sp>
        <p:nvSpPr>
          <p:cNvPr id="4" name="Alt Bilgi Yer Tutucusu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tr-TR" noProof="0" dirty="0"/>
          </a:p>
        </p:txBody>
      </p:sp>
      <p:sp>
        <p:nvSpPr>
          <p:cNvPr id="5" name="Slayt Numarası Yer Tutucusu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tr-TR" noProof="0" smtClean="0"/>
              <a:t>‹#›</a:t>
            </a:fld>
            <a:endParaRPr lang="tr-TR" noProof="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rih Yer Tutucusu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51FBC9D-59D2-4339-976D-FD603253275B}" type="datetime1">
              <a:rPr lang="tr-TR" noProof="0" smtClean="0"/>
              <a:t>14.04.2026</a:t>
            </a:fld>
            <a:endParaRPr lang="tr-TR" noProof="0" dirty="0"/>
          </a:p>
        </p:txBody>
      </p:sp>
      <p:sp>
        <p:nvSpPr>
          <p:cNvPr id="3" name="Alt Bilgi Yer Tutucusu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tr-TR" noProof="0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tr-TR" noProof="0" smtClean="0"/>
              <a:t>‹#›</a:t>
            </a:fld>
            <a:endParaRPr lang="tr-TR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Resim Yazı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aşlık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tr-TR" noProof="0" smtClean="0"/>
              <a:t>Asıl metin stillerini düzenle</a:t>
            </a:r>
          </a:p>
          <a:p>
            <a:pPr lvl="1" rtl="0"/>
            <a:r>
              <a:rPr lang="tr-TR" noProof="0" smtClean="0"/>
              <a:t>İkinci düzey</a:t>
            </a:r>
          </a:p>
          <a:p>
            <a:pPr lvl="2" rtl="0"/>
            <a:r>
              <a:rPr lang="tr-TR" noProof="0" smtClean="0"/>
              <a:t>Üçüncü düzey</a:t>
            </a:r>
          </a:p>
          <a:p>
            <a:pPr lvl="3" rtl="0"/>
            <a:r>
              <a:rPr lang="tr-TR" noProof="0" smtClean="0"/>
              <a:t>Dördüncü düzey</a:t>
            </a:r>
          </a:p>
          <a:p>
            <a:pPr lvl="4" rtl="0"/>
            <a:r>
              <a:rPr lang="tr-TR" noProof="0" smtClean="0"/>
              <a:t>Beşinci düzey</a:t>
            </a:r>
            <a:endParaRPr lang="tr-TR" noProof="0" dirty="0"/>
          </a:p>
        </p:txBody>
      </p:sp>
      <p:sp>
        <p:nvSpPr>
          <p:cNvPr id="4" name="Metin Yer Tutucusu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tr-TR" noProof="0" smtClean="0"/>
              <a:t>Asıl metin stillerini düzenle</a:t>
            </a:r>
          </a:p>
        </p:txBody>
      </p:sp>
      <p:sp>
        <p:nvSpPr>
          <p:cNvPr id="5" name="Tarih Yer Tutucusu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1AA5F42-14ED-4A61-BB34-730D94D62CEE}" type="datetime1">
              <a:rPr lang="tr-TR" noProof="0" smtClean="0"/>
              <a:t>14.04.2026</a:t>
            </a:fld>
            <a:endParaRPr lang="tr-TR" noProof="0" dirty="0"/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tr-TR" noProof="0" dirty="0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tr-TR" noProof="0" smtClean="0"/>
              <a:t>‹#›</a:t>
            </a:fld>
            <a:endParaRPr lang="tr-TR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Resim Yazı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Resim Yer Tutucusu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tr-TR" noProof="0" smtClean="0"/>
              <a:t>Resim eklemek için simgeyi tıklatın</a:t>
            </a:r>
            <a:endParaRPr lang="tr-TR" noProof="0" dirty="0"/>
          </a:p>
        </p:txBody>
      </p:sp>
      <p:sp>
        <p:nvSpPr>
          <p:cNvPr id="4" name="Metin Yer Tutucusu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tr-TR" noProof="0" smtClean="0"/>
              <a:t>Asıl metin stillerini düzenle</a:t>
            </a:r>
          </a:p>
        </p:txBody>
      </p:sp>
      <p:sp>
        <p:nvSpPr>
          <p:cNvPr id="5" name="Tarih Yer Tutucusu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0EC1C2E-42BF-4A4A-AA0A-C5009833FAE9}" type="datetime1">
              <a:rPr lang="tr-TR" noProof="0" smtClean="0"/>
              <a:t>14.04.2026</a:t>
            </a:fld>
            <a:endParaRPr lang="tr-TR" noProof="0" dirty="0"/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tr-TR" noProof="0" dirty="0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tr-TR" noProof="0" smtClean="0"/>
              <a:t>‹#›</a:t>
            </a:fld>
            <a:endParaRPr lang="tr-TR" noProof="0" dirty="0"/>
          </a:p>
        </p:txBody>
      </p:sp>
      <p:cxnSp>
        <p:nvCxnSpPr>
          <p:cNvPr id="8" name="Düz Bağlayıcı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Dikey Metin Yer Tutucusu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tr-TR" noProof="0" smtClean="0"/>
              <a:t>Asıl metin stillerini düzenle</a:t>
            </a:r>
          </a:p>
          <a:p>
            <a:pPr lvl="1" rtl="0"/>
            <a:r>
              <a:rPr lang="tr-TR" noProof="0" smtClean="0"/>
              <a:t>İkinci düzey</a:t>
            </a:r>
          </a:p>
          <a:p>
            <a:pPr lvl="2" rtl="0"/>
            <a:r>
              <a:rPr lang="tr-TR" noProof="0" smtClean="0"/>
              <a:t>Üçüncü düzey</a:t>
            </a:r>
          </a:p>
          <a:p>
            <a:pPr lvl="3" rtl="0"/>
            <a:r>
              <a:rPr lang="tr-TR" noProof="0" smtClean="0"/>
              <a:t>Dördüncü düzey</a:t>
            </a:r>
          </a:p>
          <a:p>
            <a:pPr lvl="4" rtl="0"/>
            <a:r>
              <a:rPr lang="tr-TR" noProof="0" smtClean="0"/>
              <a:t>Beşinci düzey</a:t>
            </a:r>
            <a:endParaRPr lang="tr-TR" noProof="0" dirty="0"/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58DD160-7AC4-4988-897E-E9C29ED6ADFC}" type="datetime1">
              <a:rPr lang="tr-TR" noProof="0" smtClean="0"/>
              <a:t>14.04.2026</a:t>
            </a:fld>
            <a:endParaRPr lang="tr-TR" noProof="0" dirty="0"/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tr-TR" noProof="0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tr-TR" noProof="0" smtClean="0"/>
              <a:t>‹#›</a:t>
            </a:fld>
            <a:endParaRPr lang="tr-TR" noProof="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Dikey Metin Yer Tutucusu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tr-TR" noProof="0" smtClean="0"/>
              <a:t>Asıl metin stillerini düzenle</a:t>
            </a:r>
          </a:p>
          <a:p>
            <a:pPr lvl="1" rtl="0"/>
            <a:r>
              <a:rPr lang="tr-TR" noProof="0" smtClean="0"/>
              <a:t>İkinci düzey</a:t>
            </a:r>
          </a:p>
          <a:p>
            <a:pPr lvl="2" rtl="0"/>
            <a:r>
              <a:rPr lang="tr-TR" noProof="0" smtClean="0"/>
              <a:t>Üçüncü düzey</a:t>
            </a:r>
          </a:p>
          <a:p>
            <a:pPr lvl="3" rtl="0"/>
            <a:r>
              <a:rPr lang="tr-TR" noProof="0" smtClean="0"/>
              <a:t>Dördüncü düzey</a:t>
            </a:r>
          </a:p>
          <a:p>
            <a:pPr lvl="4" rtl="0"/>
            <a:r>
              <a:rPr lang="tr-TR" noProof="0" smtClean="0"/>
              <a:t>Beşinci düzey</a:t>
            </a:r>
            <a:endParaRPr lang="tr-TR" noProof="0" dirty="0"/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DD9ED58-0017-4E56-AA8B-8FF1ED00E3D8}" type="datetime1">
              <a:rPr lang="tr-TR" noProof="0" smtClean="0"/>
              <a:t>14.04.2026</a:t>
            </a:fld>
            <a:endParaRPr lang="tr-TR" noProof="0" dirty="0"/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tr-TR" noProof="0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tr-TR" noProof="0" smtClean="0"/>
              <a:t>‹#›</a:t>
            </a:fld>
            <a:endParaRPr lang="tr-TR" noProof="0" dirty="0"/>
          </a:p>
        </p:txBody>
      </p:sp>
      <p:cxnSp>
        <p:nvCxnSpPr>
          <p:cNvPr id="7" name="Düz Bağlayıcı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tr-TR" noProof="0" dirty="0"/>
              <a:t>Asıl başlık stilini düzenlemek için tıklayın</a:t>
            </a:r>
          </a:p>
        </p:txBody>
      </p:sp>
      <p:sp>
        <p:nvSpPr>
          <p:cNvPr id="3" name="Metin Yer Tutucusu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tr-TR" noProof="0" dirty="0"/>
              <a:t>Asıl metin stillerini düzenlemek için tıklayın</a:t>
            </a:r>
          </a:p>
          <a:p>
            <a:pPr lvl="1" rtl="0"/>
            <a:r>
              <a:rPr lang="tr-TR" noProof="0" dirty="0"/>
              <a:t>İkinci düzey</a:t>
            </a:r>
          </a:p>
          <a:p>
            <a:pPr lvl="2" rtl="0"/>
            <a:r>
              <a:rPr lang="tr-TR" noProof="0" dirty="0"/>
              <a:t>Üçüncü düzey</a:t>
            </a:r>
          </a:p>
          <a:p>
            <a:pPr lvl="3" rtl="0"/>
            <a:r>
              <a:rPr lang="tr-TR" noProof="0" dirty="0"/>
              <a:t>Dördüncü düzey</a:t>
            </a:r>
          </a:p>
          <a:p>
            <a:pPr lvl="4" rtl="0"/>
            <a:r>
              <a:rPr lang="tr-TR" noProof="0" dirty="0"/>
              <a:t>Beşinci düzey</a:t>
            </a:r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E8E66F11-C330-4681-8E04-970B39CAB261}" type="datetime1">
              <a:rPr lang="tr-TR" noProof="0" smtClean="0"/>
              <a:t>14.04.2026</a:t>
            </a:fld>
            <a:endParaRPr lang="tr-TR" noProof="0" dirty="0"/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tr-TR" noProof="0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tr-TR" noProof="0" smtClean="0"/>
              <a:pPr/>
              <a:t>‹#›</a:t>
            </a:fld>
            <a:endParaRPr lang="tr-TR" noProof="0" dirty="0"/>
          </a:p>
        </p:txBody>
      </p:sp>
      <p:cxnSp>
        <p:nvCxnSpPr>
          <p:cNvPr id="7" name="Düz Bağlayıcı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ikdörtgen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tr-TR" dirty="0">
              <a:latin typeface="Calibri" panose="020F0502020204030204" pitchFamily="34" charset="0"/>
            </a:endParaRP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Dikdörtgen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tr-TR" dirty="0">
              <a:latin typeface="Calibri" panose="020F0502020204030204" pitchFamily="34" charset="0"/>
            </a:endParaRPr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tr-TR" dirty="0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MÜŞTERİ ŞİKAYETLERİ SINIFLANDIRMA</a:t>
            </a:r>
            <a:endParaRPr lang="tr-TR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rtlCol="0" anchor="t">
            <a:noAutofit/>
          </a:bodyPr>
          <a:lstStyle/>
          <a:p>
            <a:pPr rtl="0"/>
            <a:r>
              <a:rPr lang="tr-TR" sz="2000" dirty="0" smtClean="0">
                <a:solidFill>
                  <a:srgbClr val="FFFFFF"/>
                </a:solidFill>
              </a:rPr>
              <a:t>Aslıhan Erarslan Bilgisayar Mühendisliği 23040101020</a:t>
            </a:r>
          </a:p>
          <a:p>
            <a:pPr rtl="0"/>
            <a:r>
              <a:rPr lang="tr-TR" sz="2000" dirty="0" smtClean="0">
                <a:solidFill>
                  <a:srgbClr val="FFFFFF"/>
                </a:solidFill>
              </a:rPr>
              <a:t>Uygulamalı Yapay Sinir Ağları</a:t>
            </a:r>
            <a:endParaRPr lang="tr-TR" sz="2000" dirty="0">
              <a:solidFill>
                <a:srgbClr val="FFFFFF"/>
              </a:solidFill>
            </a:endParaRPr>
          </a:p>
        </p:txBody>
      </p:sp>
      <p:cxnSp>
        <p:nvCxnSpPr>
          <p:cNvPr id="23" name="Düz Bağlayıcı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>
            <a:normAutofit/>
          </a:bodyPr>
          <a:lstStyle/>
          <a:p>
            <a:r>
              <a:rPr lang="tr-TR" dirty="0" smtClean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Problem tanımı</a:t>
            </a:r>
            <a:endParaRPr lang="tr-TR" dirty="0">
              <a:solidFill>
                <a:schemeClr val="accent2">
                  <a:lumMod val="50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1024128" y="2084832"/>
            <a:ext cx="14724857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Müşteri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şikayetleri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dijital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platformlarda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hızla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artmaktadır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. </a:t>
            </a:r>
            <a:endParaRPr kumimoji="0" lang="tr-TR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Bu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verilerin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manuel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analizi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zor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ve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zaman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alıcıdır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. </a:t>
            </a:r>
            <a:endParaRPr kumimoji="0" lang="tr-TR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Yanlış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veya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gecikmiş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yönlendirmeler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müşteri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memnuniyetini</a:t>
            </a:r>
            <a:endParaRPr kumimoji="0" lang="tr-TR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düşürmektedir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. </a:t>
            </a:r>
            <a:endParaRPr kumimoji="0" lang="tr-TR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Bu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nedenle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otomatik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sınıflandırma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sistemlerine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ihtiyaç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vardır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>
          <a:xfrm>
            <a:off x="1024128" y="876161"/>
            <a:ext cx="9720072" cy="1499616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Amaç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ve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Kullanılan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 </a:t>
            </a:r>
            <a:r>
              <a:rPr lang="tr-TR" dirty="0" smtClean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/>
            </a:r>
            <a:br>
              <a:rPr lang="tr-TR" dirty="0" smtClean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</a:br>
            <a:r>
              <a:rPr lang="en-US" dirty="0" err="1" smtClean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Teknolojiler</a:t>
            </a:r>
            <a:r>
              <a:rPr lang="en-US" b="1" dirty="0"/>
              <a:t/>
            </a:r>
            <a:br>
              <a:rPr lang="en-US" b="1" dirty="0"/>
            </a:br>
            <a:endParaRPr lang="en-US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tr-TR" sz="2000" dirty="0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- </a:t>
            </a:r>
            <a:r>
              <a:rPr lang="en-US" sz="2000" dirty="0" err="1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Müşteri</a:t>
            </a:r>
            <a:r>
              <a:rPr lang="en-US" sz="2000" dirty="0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şikayetlerini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otomatik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sınıflandırmak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tr-TR" sz="2000" dirty="0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- </a:t>
            </a:r>
            <a:r>
              <a:rPr lang="en-US" sz="2000" dirty="0" err="1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Doğru</a:t>
            </a:r>
            <a:r>
              <a:rPr lang="en-US" sz="2000" dirty="0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departmana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yönlendirmek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tr-TR" sz="2000" dirty="0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- </a:t>
            </a:r>
            <a:r>
              <a:rPr lang="en-US" sz="2000" dirty="0" err="1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Süreci</a:t>
            </a:r>
            <a:r>
              <a:rPr lang="en-US" sz="2000" dirty="0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hızlandırmak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ve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otomasyon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sağlamak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2000" b="1" dirty="0" err="1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cs typeface="Arial" panose="020B0604020202020204" pitchFamily="34" charset="0"/>
              </a:rPr>
              <a:t>Kullanılan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solidFill>
                  <a:schemeClr val="tx2">
                    <a:lumMod val="75000"/>
                  </a:schemeClr>
                </a:solidFill>
                <a:latin typeface="Bookman Old Style" panose="02050604050505020204" pitchFamily="18" charset="0"/>
                <a:cs typeface="Arial" panose="020B0604020202020204" pitchFamily="34" charset="0"/>
              </a:rPr>
              <a:t>Teknolojiler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Bookman Old Style" panose="02050604050505020204" pitchFamily="18" charset="0"/>
              <a:cs typeface="Arial" panose="020B0604020202020204" pitchFamily="34" charset="0"/>
            </a:endParaRPr>
          </a:p>
          <a:p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Doğal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Dil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İşleme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(NLP) </a:t>
            </a:r>
          </a:p>
          <a:p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BERT (Transformer </a:t>
            </a:r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mimarisi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) </a:t>
            </a:r>
          </a:p>
          <a:p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Python </a:t>
            </a:r>
          </a:p>
          <a:p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PyTorch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/ </a:t>
            </a:r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TensorFlow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2000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HuggingFace</a:t>
            </a:r>
            <a:r>
              <a:rPr lang="en-US" sz="2000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Transformers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26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 smtClean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Veri seti</a:t>
            </a:r>
            <a:endParaRPr lang="en-US" dirty="0">
              <a:solidFill>
                <a:schemeClr val="accent2">
                  <a:lumMod val="50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Bu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çalışmada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müşteri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şikayetlerini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içeren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etiketli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bir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metin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veri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seti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kullanılmıştır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.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Veri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seti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farklı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sektörlerden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gelen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müşteri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geri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bildirimlerini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kapsamakta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olup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her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bir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şikayet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metni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ilgili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kategori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ile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eşleştirilmiştir</a:t>
            </a:r>
            <a:r>
              <a:rPr lang="en-US" dirty="0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.</a:t>
            </a:r>
            <a:endParaRPr lang="tr-TR" dirty="0" smtClean="0">
              <a:latin typeface="Bahnschrift Light SemiCondensed" panose="020B0502040204020203" pitchFamily="34" charset="0"/>
              <a:cs typeface="Arial" panose="020B0604020202020204" pitchFamily="34" charset="0"/>
            </a:endParaRPr>
          </a:p>
          <a:p>
            <a:pPr marL="128016" lvl="1" indent="0">
              <a:buNone/>
            </a:pPr>
            <a:endParaRPr lang="tr-TR" dirty="0" smtClean="0">
              <a:latin typeface="Bahnschrift Light SemiCondensed" panose="020B0502040204020203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Çalışma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kapsamında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veri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seti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b="1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6 </a:t>
            </a:r>
            <a:r>
              <a:rPr lang="en-US" b="1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farklı</a:t>
            </a:r>
            <a:r>
              <a:rPr lang="en-US" b="1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sınıftan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oluşmaktadır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. Bu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sınıflar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;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kargo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ödeme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iade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teknik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sorun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hesap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işlemleri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ve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genel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şikayetler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şeklindedir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. Her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sınıf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modelin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öğrenebilmesi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için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dengeli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ve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etiketli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örnekler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içermektedir</a:t>
            </a:r>
            <a:r>
              <a:rPr lang="en-US" dirty="0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.</a:t>
            </a:r>
            <a:endParaRPr lang="tr-TR" dirty="0" smtClean="0">
              <a:latin typeface="Bahnschrift Light SemiCondensed" panose="020B0502040204020203" pitchFamily="34" charset="0"/>
              <a:cs typeface="Arial" panose="020B0604020202020204" pitchFamily="34" charset="0"/>
            </a:endParaRPr>
          </a:p>
          <a:p>
            <a:pPr lvl="1"/>
            <a:endParaRPr lang="tr-TR" dirty="0" smtClean="0">
              <a:latin typeface="Bahnschrift Light SemiCondensed" panose="020B0502040204020203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Veri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seti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modelin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hem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eğitim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hem de test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aşamalarında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kullanılmış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ve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sistemin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gerçek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dünya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müşteri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şikayetlerini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doğru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şekilde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sınıflandırabilmesi</a:t>
            </a:r>
            <a:r>
              <a:rPr lang="en-US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  <a:cs typeface="Arial" panose="020B0604020202020204" pitchFamily="34" charset="0"/>
              </a:rPr>
              <a:t>hedeflenmiştir</a:t>
            </a:r>
            <a:r>
              <a:rPr lang="en-US" dirty="0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.</a:t>
            </a:r>
            <a:endParaRPr lang="tr-TR" dirty="0" smtClean="0">
              <a:latin typeface="Bahnschrift Light SemiCondensed" panose="020B0502040204020203" pitchFamily="34" charset="0"/>
              <a:cs typeface="Arial" panose="020B0604020202020204" pitchFamily="34" charset="0"/>
            </a:endParaRPr>
          </a:p>
          <a:p>
            <a:pPr lvl="1"/>
            <a:endParaRPr lang="tr-TR" dirty="0">
              <a:latin typeface="Bahnschrift Light SemiCondensed" panose="020B0502040204020203" pitchFamily="34" charset="0"/>
              <a:cs typeface="Arial" panose="020B0604020202020204" pitchFamily="34" charset="0"/>
            </a:endParaRPr>
          </a:p>
          <a:p>
            <a:pPr lvl="1"/>
            <a:r>
              <a:rPr lang="tr-TR" dirty="0" smtClean="0">
                <a:latin typeface="Bahnschrift Light SemiCondensed" panose="020B0502040204020203" pitchFamily="34" charset="0"/>
                <a:cs typeface="Arial" panose="020B0604020202020204" pitchFamily="34" charset="0"/>
              </a:rPr>
              <a:t>Veri </a:t>
            </a:r>
            <a:r>
              <a:rPr lang="tr-TR" dirty="0">
                <a:latin typeface="Bahnschrift Light SemiCondensed" panose="020B0502040204020203" pitchFamily="34" charset="0"/>
                <a:cs typeface="Arial" panose="020B0604020202020204" pitchFamily="34" charset="0"/>
              </a:rPr>
              <a:t>seti linki : https://www.kaggle.com/datasets/selener/consumer-complaint-database</a:t>
            </a:r>
            <a:endParaRPr lang="en-US" dirty="0" smtClean="0">
              <a:latin typeface="Bahnschrift Light SemiCondensed" panose="020B0502040204020203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636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Veri</a:t>
            </a:r>
            <a:r>
              <a:rPr lang="en-US" sz="3600" dirty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 </a:t>
            </a:r>
            <a:r>
              <a:rPr lang="en-US" sz="3600" dirty="0" err="1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Ön</a:t>
            </a:r>
            <a:r>
              <a:rPr lang="en-US" sz="3600" dirty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 </a:t>
            </a:r>
            <a:r>
              <a:rPr lang="en-US" sz="3600" dirty="0" err="1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İşleme</a:t>
            </a:r>
            <a:r>
              <a:rPr lang="en-US" sz="3600" dirty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 </a:t>
            </a:r>
            <a:r>
              <a:rPr lang="en-US" sz="3600" dirty="0" err="1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ve</a:t>
            </a:r>
            <a:r>
              <a:rPr lang="en-US" sz="3600" dirty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 Model </a:t>
            </a:r>
            <a:r>
              <a:rPr lang="en-US" sz="3600" dirty="0" err="1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Mimarisi</a:t>
            </a:r>
            <a:endParaRPr lang="en-US" sz="3600" dirty="0">
              <a:solidFill>
                <a:schemeClr val="accent2">
                  <a:lumMod val="50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024128" y="2137279"/>
            <a:ext cx="1072921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 </a:t>
            </a:r>
            <a:r>
              <a:rPr lang="tr-TR" altLang="en-US" sz="1800" dirty="0" smtClean="0">
                <a:latin typeface="Bahnschrift Light SemiCondensed" panose="020B0502040204020203" pitchFamily="34" charset="0"/>
              </a:rPr>
              <a:t>- 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Bu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çalışmada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veri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seti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, BERT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modeline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uygun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hale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getirilmeden</a:t>
            </a:r>
            <a:endParaRPr kumimoji="0" lang="tr-TR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önce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ön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işleme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adımlarından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geçirilmiştir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.</a:t>
            </a:r>
            <a:endParaRPr kumimoji="0" lang="tr-TR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tr-TR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-</a:t>
            </a:r>
            <a:r>
              <a:rPr kumimoji="0" lang="tr-TR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Metinler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WordPiece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tokenizer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kullanılarak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sayısal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tokenlara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dönüştürülmüş</a:t>
            </a:r>
            <a:r>
              <a:rPr kumimoji="0" lang="tr-TR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ve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tr-TR" altLang="en-US" sz="1800" dirty="0" smtClean="0">
                <a:latin typeface="Bahnschrift Light SemiCondensed" panose="020B0502040204020203" pitchFamily="34" charset="0"/>
              </a:rPr>
              <a:t>h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er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bir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şikayet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metni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input_ids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ve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attention_mask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yapıları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ile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modele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uygun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formata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getirilmiştir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.</a:t>
            </a:r>
            <a:endParaRPr kumimoji="0" lang="tr-TR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tr-TR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lang="tr-TR" altLang="en-US" sz="1800" dirty="0" smtClean="0">
                <a:latin typeface="Bahnschrift Light SemiCondensed" panose="020B0502040204020203" pitchFamily="34" charset="0"/>
              </a:rPr>
              <a:t>-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Tüm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girdiler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sabit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uzunluğa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getirilmiş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,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kısa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metinler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padding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ile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tamamlanmış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,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uzun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metinler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ise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kesilmiştir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.</a:t>
            </a:r>
            <a:endParaRPr kumimoji="0" lang="tr-TR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 -</a:t>
            </a:r>
            <a:r>
              <a:rPr kumimoji="0" lang="tr-TR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Model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olarak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önceden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eğitilmiş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BERT (Transformer)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mimarisi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kullanılmıştır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.</a:t>
            </a:r>
            <a:endParaRPr lang="tr-TR" altLang="en-US" sz="1800" dirty="0"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BERT,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metni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çift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yönlü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bağlamda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öğrenerek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anlam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temsili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oluşturur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.</a:t>
            </a:r>
            <a:r>
              <a:rPr kumimoji="0" lang="tr-TR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Modelin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üzerine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eklenen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sınıflandırma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katmanı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,</a:t>
            </a:r>
            <a:endParaRPr kumimoji="0" lang="tr-TR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[CLS] token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çıktısını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kullanarak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metni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ilgili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şikayet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sınıfına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atamaktadır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. </a:t>
            </a:r>
            <a:r>
              <a:rPr lang="tr-TR" altLang="en-US" sz="1800" dirty="0"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Bu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yapı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sayesinde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bağlamsal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ve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daha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doğru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endParaRPr kumimoji="0" lang="tr-TR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Bahnschrift Ligh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sınıflandırma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yapılabilmektedir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SemiCondensed" panose="020B05020402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7367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>
          <a:xfrm>
            <a:off x="1024128" y="876162"/>
            <a:ext cx="9720072" cy="14996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Model 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Eğitimi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ve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 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Süreci</a:t>
            </a:r>
            <a:r>
              <a:rPr lang="en-US" b="1" dirty="0"/>
              <a:t/>
            </a:r>
            <a:br>
              <a:rPr lang="en-US" b="1" dirty="0"/>
            </a:br>
            <a:endParaRPr lang="en-US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>
          <a:xfrm>
            <a:off x="916063" y="2277687"/>
            <a:ext cx="9720073" cy="4023360"/>
          </a:xfrm>
        </p:spPr>
        <p:txBody>
          <a:bodyPr/>
          <a:lstStyle/>
          <a:p>
            <a:r>
              <a:rPr lang="tr-TR" dirty="0" smtClean="0">
                <a:latin typeface="Bahnschrift Light SemiCondensed" panose="020B0502040204020203" pitchFamily="34" charset="0"/>
              </a:rPr>
              <a:t>  </a:t>
            </a:r>
            <a:r>
              <a:rPr lang="en-US" dirty="0" smtClean="0">
                <a:latin typeface="Bahnschrift Light SemiCondensed" panose="020B0502040204020203" pitchFamily="34" charset="0"/>
              </a:rPr>
              <a:t>Model</a:t>
            </a:r>
            <a:r>
              <a:rPr lang="en-US" dirty="0">
                <a:latin typeface="Bahnschrift Light SemiCondensed" panose="020B0502040204020203" pitchFamily="34" charset="0"/>
              </a:rPr>
              <a:t>, </a:t>
            </a:r>
            <a:r>
              <a:rPr lang="en-US" dirty="0" err="1">
                <a:latin typeface="Bahnschrift Light SemiCondensed" panose="020B0502040204020203" pitchFamily="34" charset="0"/>
              </a:rPr>
              <a:t>önceden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eğitilmiş</a:t>
            </a:r>
            <a:r>
              <a:rPr lang="en-US" dirty="0">
                <a:latin typeface="Bahnschrift Light SemiCondensed" panose="020B0502040204020203" pitchFamily="34" charset="0"/>
              </a:rPr>
              <a:t> BERT </a:t>
            </a:r>
            <a:r>
              <a:rPr lang="en-US" dirty="0" err="1">
                <a:latin typeface="Bahnschrift Light SemiCondensed" panose="020B0502040204020203" pitchFamily="34" charset="0"/>
              </a:rPr>
              <a:t>mimarisi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üzerine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b="1" dirty="0">
                <a:latin typeface="Bahnschrift Light SemiCondensed" panose="020B0502040204020203" pitchFamily="34" charset="0"/>
              </a:rPr>
              <a:t>fine-tuning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uygulanarak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 smtClean="0">
                <a:latin typeface="Bahnschrift Light SemiCondensed" panose="020B0502040204020203" pitchFamily="34" charset="0"/>
              </a:rPr>
              <a:t>müşteri</a:t>
            </a:r>
            <a:r>
              <a:rPr lang="en-US" dirty="0" smtClean="0">
                <a:latin typeface="Bahnschrift Light SemiCondensed" panose="020B0502040204020203" pitchFamily="34" charset="0"/>
              </a:rPr>
              <a:t> </a:t>
            </a:r>
            <a:r>
              <a:rPr lang="en-US" dirty="0" err="1" smtClean="0">
                <a:latin typeface="Bahnschrift Light SemiCondensed" panose="020B0502040204020203" pitchFamily="34" charset="0"/>
              </a:rPr>
              <a:t>şikayet</a:t>
            </a:r>
            <a:r>
              <a:rPr lang="en-US" dirty="0" smtClean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veri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setine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uyarlanmıştır</a:t>
            </a:r>
            <a:r>
              <a:rPr lang="en-US" dirty="0">
                <a:latin typeface="Bahnschrift Light SemiCondensed" panose="020B0502040204020203" pitchFamily="34" charset="0"/>
              </a:rPr>
              <a:t>. </a:t>
            </a:r>
            <a:r>
              <a:rPr lang="en-US" dirty="0" err="1">
                <a:latin typeface="Bahnschrift Light SemiCondensed" panose="020B0502040204020203" pitchFamily="34" charset="0"/>
              </a:rPr>
              <a:t>Böylece</a:t>
            </a:r>
            <a:r>
              <a:rPr lang="en-US" dirty="0">
                <a:latin typeface="Bahnschrift Light SemiCondensed" panose="020B0502040204020203" pitchFamily="34" charset="0"/>
              </a:rPr>
              <a:t> model, </a:t>
            </a:r>
            <a:r>
              <a:rPr lang="en-US" dirty="0" err="1">
                <a:latin typeface="Bahnschrift Light SemiCondensed" panose="020B0502040204020203" pitchFamily="34" charset="0"/>
              </a:rPr>
              <a:t>genel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dil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bilgisini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korurken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görev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özelinde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öğrenme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gerçekleştirmiştir</a:t>
            </a:r>
            <a:r>
              <a:rPr lang="en-US" dirty="0">
                <a:latin typeface="Bahnschrift Light SemiCondensed" panose="020B0502040204020203" pitchFamily="34" charset="0"/>
              </a:rPr>
              <a:t>.</a:t>
            </a:r>
          </a:p>
          <a:p>
            <a:r>
              <a:rPr lang="tr-TR" dirty="0" smtClean="0">
                <a:latin typeface="Bahnschrift Light SemiCondensed" panose="020B0502040204020203" pitchFamily="34" charset="0"/>
              </a:rPr>
              <a:t>  </a:t>
            </a:r>
            <a:r>
              <a:rPr lang="en-US" dirty="0" err="1" smtClean="0">
                <a:latin typeface="Bahnschrift Light SemiCondensed" panose="020B0502040204020203" pitchFamily="34" charset="0"/>
              </a:rPr>
              <a:t>Eğitim</a:t>
            </a:r>
            <a:r>
              <a:rPr lang="en-US" dirty="0" smtClean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sürecinde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kayıp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fonksiyonu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olarak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b="1" dirty="0">
                <a:latin typeface="Bahnschrift Light SemiCondensed" panose="020B0502040204020203" pitchFamily="34" charset="0"/>
              </a:rPr>
              <a:t>Cross-Entropy Loss</a:t>
            </a:r>
            <a:r>
              <a:rPr lang="en-US" dirty="0">
                <a:latin typeface="Bahnschrift Light SemiCondensed" panose="020B0502040204020203" pitchFamily="34" charset="0"/>
              </a:rPr>
              <a:t>, </a:t>
            </a:r>
            <a:r>
              <a:rPr lang="en-US" dirty="0" err="1">
                <a:latin typeface="Bahnschrift Light SemiCondensed" panose="020B0502040204020203" pitchFamily="34" charset="0"/>
              </a:rPr>
              <a:t>optimizasyon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algoritması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olarak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ise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b="1" dirty="0" err="1">
                <a:latin typeface="Bahnschrift Light SemiCondensed" panose="020B0502040204020203" pitchFamily="34" charset="0"/>
              </a:rPr>
              <a:t>AdamW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kullanılmıştır</a:t>
            </a:r>
            <a:r>
              <a:rPr lang="en-US" dirty="0">
                <a:latin typeface="Bahnschrift Light SemiCondensed" panose="020B0502040204020203" pitchFamily="34" charset="0"/>
              </a:rPr>
              <a:t>. Bu </a:t>
            </a:r>
            <a:r>
              <a:rPr lang="en-US" dirty="0" err="1">
                <a:latin typeface="Bahnschrift Light SemiCondensed" panose="020B0502040204020203" pitchFamily="34" charset="0"/>
              </a:rPr>
              <a:t>sayede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daha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stabil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ve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hızlı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bir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öğrenme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süreci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elde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edilmiştir</a:t>
            </a:r>
            <a:r>
              <a:rPr lang="en-US" dirty="0">
                <a:latin typeface="Bahnschrift Light SemiCondensed" panose="020B0502040204020203" pitchFamily="34" charset="0"/>
              </a:rPr>
              <a:t>.</a:t>
            </a:r>
          </a:p>
          <a:p>
            <a:r>
              <a:rPr lang="tr-TR" dirty="0" smtClean="0">
                <a:latin typeface="Bahnschrift Light SemiCondensed" panose="020B0502040204020203" pitchFamily="34" charset="0"/>
              </a:rPr>
              <a:t>  </a:t>
            </a:r>
            <a:r>
              <a:rPr lang="en-US" dirty="0" err="1" smtClean="0">
                <a:latin typeface="Bahnschrift Light SemiCondensed" panose="020B0502040204020203" pitchFamily="34" charset="0"/>
              </a:rPr>
              <a:t>Ayrıca</a:t>
            </a:r>
            <a:r>
              <a:rPr lang="en-US" dirty="0" smtClean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modelin</a:t>
            </a:r>
            <a:r>
              <a:rPr lang="en-US" dirty="0">
                <a:latin typeface="Bahnschrift Light SemiCondensed" panose="020B0502040204020203" pitchFamily="34" charset="0"/>
              </a:rPr>
              <a:t> overfitting </a:t>
            </a:r>
            <a:r>
              <a:rPr lang="en-US" dirty="0" err="1">
                <a:latin typeface="Bahnschrift Light SemiCondensed" panose="020B0502040204020203" pitchFamily="34" charset="0"/>
              </a:rPr>
              <a:t>yapmasını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önlemek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için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b="1" dirty="0">
                <a:latin typeface="Bahnschrift Light SemiCondensed" panose="020B0502040204020203" pitchFamily="34" charset="0"/>
              </a:rPr>
              <a:t>Early Stopping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uygulanmış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ve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doğrulama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kaybı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iyileşmediğinde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eğitim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otomatik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olarak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durdurulmuştur</a:t>
            </a:r>
            <a:r>
              <a:rPr lang="en-US" dirty="0">
                <a:latin typeface="Bahnschrift Light SemiCondensed" panose="020B0502040204020203" pitchFamily="34" charset="0"/>
              </a:rPr>
              <a:t>. </a:t>
            </a:r>
            <a:r>
              <a:rPr lang="en-US" dirty="0" err="1">
                <a:latin typeface="Bahnschrift Light SemiCondensed" panose="020B0502040204020203" pitchFamily="34" charset="0"/>
              </a:rPr>
              <a:t>Öğrenme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oranı</a:t>
            </a:r>
            <a:r>
              <a:rPr lang="en-US" dirty="0">
                <a:latin typeface="Bahnschrift Light SemiCondensed" panose="020B0502040204020203" pitchFamily="34" charset="0"/>
              </a:rPr>
              <a:t> da </a:t>
            </a:r>
            <a:r>
              <a:rPr lang="en-US" dirty="0" err="1">
                <a:latin typeface="Bahnschrift Light SemiCondensed" panose="020B0502040204020203" pitchFamily="34" charset="0"/>
              </a:rPr>
              <a:t>eğitim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boyunca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kademeli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olarak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azaltılarak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modelin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daha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kararlı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öğrenmesi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sağlanmıştır</a:t>
            </a:r>
            <a:r>
              <a:rPr lang="en-US" dirty="0">
                <a:latin typeface="Bahnschrift Light SemiCondensed" panose="020B0502040204020203" pitchFamily="34" charset="0"/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0984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4400" dirty="0" smtClean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Sonuçlar ve performans</a:t>
            </a:r>
            <a:endParaRPr lang="en-US" sz="4400" dirty="0">
              <a:solidFill>
                <a:schemeClr val="accent2">
                  <a:lumMod val="50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>
          <a:xfrm>
            <a:off x="1024127" y="1991294"/>
            <a:ext cx="9720073" cy="4023360"/>
          </a:xfrm>
        </p:spPr>
        <p:txBody>
          <a:bodyPr/>
          <a:lstStyle/>
          <a:p>
            <a:r>
              <a:rPr lang="tr-TR" sz="1800" dirty="0" smtClean="0">
                <a:latin typeface="Bahnschrift Light SemiCondensed" panose="020B0502040204020203" pitchFamily="34" charset="0"/>
              </a:rPr>
              <a:t>  </a:t>
            </a:r>
            <a:r>
              <a:rPr lang="en-US" sz="1800" dirty="0" err="1" smtClean="0">
                <a:latin typeface="Bahnschrift Light SemiCondensed" panose="020B0502040204020203" pitchFamily="34" charset="0"/>
              </a:rPr>
              <a:t>Modelin</a:t>
            </a:r>
            <a:r>
              <a:rPr lang="en-US" sz="1800" dirty="0" smtClean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performansı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çeşitli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metrikler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ile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değerlendirilmiştir</a:t>
            </a:r>
            <a:r>
              <a:rPr lang="en-US" sz="1800" dirty="0">
                <a:latin typeface="Bahnschrift Light SemiCondensed" panose="020B0502040204020203" pitchFamily="34" charset="0"/>
              </a:rPr>
              <a:t>. </a:t>
            </a:r>
            <a:r>
              <a:rPr lang="en-US" sz="1800" dirty="0" err="1" smtClean="0">
                <a:latin typeface="Bahnschrift Light SemiCondensed" panose="020B0502040204020203" pitchFamily="34" charset="0"/>
              </a:rPr>
              <a:t>Elde</a:t>
            </a:r>
            <a:r>
              <a:rPr lang="en-US" sz="1800" dirty="0" smtClean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edilen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sonuçlara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göre</a:t>
            </a:r>
            <a:r>
              <a:rPr lang="en-US" sz="1800" dirty="0">
                <a:latin typeface="Bahnschrift Light SemiCondensed" panose="020B0502040204020203" pitchFamily="34" charset="0"/>
              </a:rPr>
              <a:t> model</a:t>
            </a:r>
            <a:r>
              <a:rPr lang="en-US" sz="1800" dirty="0" smtClean="0">
                <a:latin typeface="Bahnschrift Light SemiCondensed" panose="020B0502040204020203" pitchFamily="34" charset="0"/>
              </a:rPr>
              <a:t>, </a:t>
            </a:r>
            <a:r>
              <a:rPr lang="en-US" sz="1800" dirty="0" err="1">
                <a:latin typeface="Bahnschrift Light SemiCondensed" panose="020B0502040204020203" pitchFamily="34" charset="0"/>
              </a:rPr>
              <a:t>müşteri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şikayetlerini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yüksek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doğrulukla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sınıflandırabilmektedir</a:t>
            </a:r>
            <a:r>
              <a:rPr lang="en-US" sz="1800" dirty="0" smtClean="0">
                <a:latin typeface="Bahnschrift Light SemiCondensed" panose="020B0502040204020203" pitchFamily="34" charset="0"/>
              </a:rPr>
              <a:t>.</a:t>
            </a:r>
            <a:endParaRPr lang="en-US" sz="1800" dirty="0">
              <a:latin typeface="Bahnschrift Light SemiCondensed" panose="020B0502040204020203" pitchFamily="34" charset="0"/>
            </a:endParaRPr>
          </a:p>
          <a:p>
            <a:r>
              <a:rPr lang="tr-TR" sz="1800" dirty="0" smtClean="0">
                <a:latin typeface="Bahnschrift Light SemiCondensed" panose="020B0502040204020203" pitchFamily="34" charset="0"/>
              </a:rPr>
              <a:t>  </a:t>
            </a:r>
            <a:r>
              <a:rPr lang="en-US" sz="1800" dirty="0" err="1" smtClean="0">
                <a:latin typeface="Bahnschrift Light SemiCondensed" panose="020B0502040204020203" pitchFamily="34" charset="0"/>
              </a:rPr>
              <a:t>Eğitim</a:t>
            </a:r>
            <a:r>
              <a:rPr lang="en-US" sz="1800" dirty="0" smtClean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sürecinde</a:t>
            </a:r>
            <a:r>
              <a:rPr lang="en-US" sz="1800" dirty="0">
                <a:latin typeface="Bahnschrift Light SemiCondensed" panose="020B0502040204020203" pitchFamily="34" charset="0"/>
              </a:rPr>
              <a:t> validation loss </a:t>
            </a:r>
            <a:r>
              <a:rPr lang="en-US" sz="1800" dirty="0" err="1">
                <a:latin typeface="Bahnschrift Light SemiCondensed" panose="020B0502040204020203" pitchFamily="34" charset="0"/>
              </a:rPr>
              <a:t>değerinin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azaldığı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ve</a:t>
            </a:r>
            <a:r>
              <a:rPr lang="en-US" sz="1800" dirty="0">
                <a:latin typeface="Bahnschrift Light SemiCondensed" panose="020B0502040204020203" pitchFamily="34" charset="0"/>
              </a:rPr>
              <a:t> accuracy </a:t>
            </a:r>
            <a:r>
              <a:rPr lang="en-US" sz="1800" dirty="0" err="1">
                <a:latin typeface="Bahnschrift Light SemiCondensed" panose="020B0502040204020203" pitchFamily="34" charset="0"/>
              </a:rPr>
              <a:t>değerinin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arttığı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gözlemlenmiştir</a:t>
            </a:r>
            <a:r>
              <a:rPr lang="en-US" sz="1800" dirty="0">
                <a:latin typeface="Bahnschrift Light SemiCondensed" panose="020B0502040204020203" pitchFamily="34" charset="0"/>
              </a:rPr>
              <a:t>. Bu durum </a:t>
            </a:r>
            <a:r>
              <a:rPr lang="en-US" sz="1800" dirty="0" err="1">
                <a:latin typeface="Bahnschrift Light SemiCondensed" panose="020B0502040204020203" pitchFamily="34" charset="0"/>
              </a:rPr>
              <a:t>modelin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başarılı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şekilde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öğrenme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gerçekleştirdiğini</a:t>
            </a:r>
            <a:r>
              <a:rPr lang="en-US" sz="1800" dirty="0">
                <a:latin typeface="Bahnschrift Light SemiCondensed" panose="020B0502040204020203" pitchFamily="34" charset="0"/>
              </a:rPr>
              <a:t> </a:t>
            </a:r>
            <a:r>
              <a:rPr lang="en-US" sz="1800" dirty="0" err="1">
                <a:latin typeface="Bahnschrift Light SemiCondensed" panose="020B0502040204020203" pitchFamily="34" charset="0"/>
              </a:rPr>
              <a:t>göstermektedir</a:t>
            </a:r>
            <a:r>
              <a:rPr lang="en-US" sz="1800" dirty="0" smtClean="0">
                <a:latin typeface="Bahnschrift Light SemiCondensed" panose="020B0502040204020203" pitchFamily="34" charset="0"/>
              </a:rPr>
              <a:t>.</a:t>
            </a:r>
            <a:endParaRPr lang="tr-TR" sz="1800" dirty="0" smtClean="0">
              <a:latin typeface="Bahnschrift Light SemiCondensed" panose="020B0502040204020203" pitchFamily="34" charset="0"/>
            </a:endParaRPr>
          </a:p>
          <a:p>
            <a:r>
              <a:rPr lang="tr-TR" sz="1800" b="1" dirty="0" smtClean="0"/>
              <a:t>                                          </a:t>
            </a:r>
            <a:r>
              <a:rPr lang="en-US" sz="1800" b="1" dirty="0" smtClean="0">
                <a:latin typeface="Bahnschrift Light SemiCondensed" panose="020B0502040204020203" pitchFamily="34" charset="0"/>
              </a:rPr>
              <a:t>Accuracy</a:t>
            </a:r>
            <a:r>
              <a:rPr lang="en-US" sz="1800" b="1" dirty="0">
                <a:latin typeface="Bahnschrift Light SemiCondensed" panose="020B0502040204020203" pitchFamily="34" charset="0"/>
              </a:rPr>
              <a:t>:</a:t>
            </a:r>
            <a:r>
              <a:rPr lang="en-US" sz="1800" dirty="0">
                <a:latin typeface="Bahnschrift Light SemiCondensed" panose="020B0502040204020203" pitchFamily="34" charset="0"/>
              </a:rPr>
              <a:t> %</a:t>
            </a:r>
            <a:r>
              <a:rPr lang="en-US" sz="1800" dirty="0" smtClean="0">
                <a:latin typeface="Bahnschrift Light SemiCondensed" panose="020B0502040204020203" pitchFamily="34" charset="0"/>
              </a:rPr>
              <a:t>84.67</a:t>
            </a:r>
            <a:r>
              <a:rPr lang="tr-TR" sz="1800" dirty="0" smtClean="0">
                <a:latin typeface="Bahnschrift Light SemiCondensed" panose="020B0502040204020203" pitchFamily="34" charset="0"/>
              </a:rPr>
              <a:t>                  </a:t>
            </a:r>
            <a:r>
              <a:rPr lang="en-US" sz="1800" b="1" dirty="0">
                <a:latin typeface="Bahnschrift Light SemiCondensed" panose="020B0502040204020203" pitchFamily="34" charset="0"/>
              </a:rPr>
              <a:t>F1 Score:</a:t>
            </a:r>
            <a:r>
              <a:rPr lang="en-US" sz="1800" dirty="0">
                <a:latin typeface="Bahnschrift Light SemiCondensed" panose="020B0502040204020203" pitchFamily="34" charset="0"/>
              </a:rPr>
              <a:t> %84.82</a:t>
            </a:r>
          </a:p>
          <a:p>
            <a:endParaRPr lang="en-US" dirty="0"/>
          </a:p>
        </p:txBody>
      </p:sp>
      <p:pic>
        <p:nvPicPr>
          <p:cNvPr id="4" name="Resi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2190" y="4006734"/>
            <a:ext cx="3319254" cy="2610455"/>
          </a:xfrm>
          <a:prstGeom prst="rect">
            <a:avLst/>
          </a:prstGeom>
        </p:spPr>
      </p:pic>
      <p:pic>
        <p:nvPicPr>
          <p:cNvPr id="5" name="Resi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520" y="4002974"/>
            <a:ext cx="3240855" cy="2589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364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van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4000" dirty="0" smtClean="0">
                <a:solidFill>
                  <a:schemeClr val="accent2">
                    <a:lumMod val="50000"/>
                  </a:schemeClr>
                </a:solidFill>
                <a:latin typeface="Bookman Old Style" panose="02050604050505020204" pitchFamily="18" charset="0"/>
              </a:rPr>
              <a:t>Genel değerlendirme ve özet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>
          <a:xfrm>
            <a:off x="1024128" y="2568632"/>
            <a:ext cx="9720073" cy="4023360"/>
          </a:xfrm>
        </p:spPr>
        <p:txBody>
          <a:bodyPr/>
          <a:lstStyle/>
          <a:p>
            <a:r>
              <a:rPr lang="tr-TR" dirty="0" smtClean="0">
                <a:latin typeface="Bahnschrift Light SemiCondensed" panose="020B0502040204020203" pitchFamily="34" charset="0"/>
              </a:rPr>
              <a:t>  </a:t>
            </a:r>
            <a:r>
              <a:rPr lang="en-US" dirty="0" smtClean="0">
                <a:latin typeface="Bahnschrift Light SemiCondensed" panose="020B0502040204020203" pitchFamily="34" charset="0"/>
              </a:rPr>
              <a:t>Bu </a:t>
            </a:r>
            <a:r>
              <a:rPr lang="en-US" dirty="0" err="1">
                <a:latin typeface="Bahnschrift Light SemiCondensed" panose="020B0502040204020203" pitchFamily="34" charset="0"/>
              </a:rPr>
              <a:t>projede</a:t>
            </a:r>
            <a:r>
              <a:rPr lang="en-US" dirty="0">
                <a:latin typeface="Bahnschrift Light SemiCondensed" panose="020B0502040204020203" pitchFamily="34" charset="0"/>
              </a:rPr>
              <a:t>, </a:t>
            </a:r>
            <a:r>
              <a:rPr lang="en-US" dirty="0" err="1">
                <a:latin typeface="Bahnschrift Light SemiCondensed" panose="020B0502040204020203" pitchFamily="34" charset="0"/>
              </a:rPr>
              <a:t>müşteri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şikayet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metinlerini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otomatik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olarak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sınıflandırabilen</a:t>
            </a:r>
            <a:r>
              <a:rPr lang="en-US" dirty="0">
                <a:latin typeface="Bahnschrift Light SemiCondensed" panose="020B0502040204020203" pitchFamily="34" charset="0"/>
              </a:rPr>
              <a:t> BERT </a:t>
            </a:r>
            <a:r>
              <a:rPr lang="en-US" dirty="0" err="1">
                <a:latin typeface="Bahnschrift Light SemiCondensed" panose="020B0502040204020203" pitchFamily="34" charset="0"/>
              </a:rPr>
              <a:t>tabanlı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bir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derin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öğrenme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modeli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geliştirilmiştir</a:t>
            </a:r>
            <a:r>
              <a:rPr lang="en-US" dirty="0">
                <a:latin typeface="Bahnschrift Light SemiCondensed" panose="020B0502040204020203" pitchFamily="34" charset="0"/>
              </a:rPr>
              <a:t>. </a:t>
            </a:r>
            <a:r>
              <a:rPr lang="en-US" dirty="0" err="1">
                <a:latin typeface="Bahnschrift Light SemiCondensed" panose="020B0502040204020203" pitchFamily="34" charset="0"/>
              </a:rPr>
              <a:t>Elde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edilen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sonuçlar</a:t>
            </a:r>
            <a:r>
              <a:rPr lang="en-US" dirty="0">
                <a:latin typeface="Bahnschrift Light SemiCondensed" panose="020B0502040204020203" pitchFamily="34" charset="0"/>
              </a:rPr>
              <a:t>, </a:t>
            </a:r>
            <a:r>
              <a:rPr lang="en-US" dirty="0" err="1">
                <a:latin typeface="Bahnschrift Light SemiCondensed" panose="020B0502040204020203" pitchFamily="34" charset="0"/>
              </a:rPr>
              <a:t>modelin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yüksek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doğruluk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ve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dengeli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performans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ile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çalıştığını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göstermektedir</a:t>
            </a:r>
            <a:r>
              <a:rPr lang="en-US" dirty="0">
                <a:latin typeface="Bahnschrift Light SemiCondensed" panose="020B0502040204020203" pitchFamily="34" charset="0"/>
              </a:rPr>
              <a:t>.</a:t>
            </a:r>
          </a:p>
          <a:p>
            <a:r>
              <a:rPr lang="tr-TR" dirty="0" smtClean="0">
                <a:latin typeface="Bahnschrift Light SemiCondensed" panose="020B0502040204020203" pitchFamily="34" charset="0"/>
              </a:rPr>
              <a:t>  </a:t>
            </a:r>
            <a:r>
              <a:rPr lang="en-US" dirty="0" err="1" smtClean="0">
                <a:latin typeface="Bahnschrift Light SemiCondensed" panose="020B0502040204020203" pitchFamily="34" charset="0"/>
              </a:rPr>
              <a:t>Geliştirilen</a:t>
            </a:r>
            <a:r>
              <a:rPr lang="en-US" dirty="0" smtClean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sistem</a:t>
            </a:r>
            <a:r>
              <a:rPr lang="en-US" dirty="0">
                <a:latin typeface="Bahnschrift Light SemiCondensed" panose="020B0502040204020203" pitchFamily="34" charset="0"/>
              </a:rPr>
              <a:t>, </a:t>
            </a:r>
            <a:r>
              <a:rPr lang="en-US" dirty="0" err="1">
                <a:latin typeface="Bahnschrift Light SemiCondensed" panose="020B0502040204020203" pitchFamily="34" charset="0"/>
              </a:rPr>
              <a:t>müşteri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geri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bildirimlerini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hızlı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ve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doğru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bir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şekilde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analiz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ederek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ilgili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departmanlara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yönlendirme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potansiyeline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sahiptir</a:t>
            </a:r>
            <a:r>
              <a:rPr lang="en-US" dirty="0">
                <a:latin typeface="Bahnschrift Light SemiCondensed" panose="020B0502040204020203" pitchFamily="34" charset="0"/>
              </a:rPr>
              <a:t>. Bu </a:t>
            </a:r>
            <a:r>
              <a:rPr lang="en-US" dirty="0" err="1">
                <a:latin typeface="Bahnschrift Light SemiCondensed" panose="020B0502040204020203" pitchFamily="34" charset="0"/>
              </a:rPr>
              <a:t>sayede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müşteri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hizmetleri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süreçlerinin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daha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verimli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ve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otomatik</a:t>
            </a:r>
            <a:r>
              <a:rPr lang="en-US" dirty="0">
                <a:latin typeface="Bahnschrift Light SemiCondensed" panose="020B0502040204020203" pitchFamily="34" charset="0"/>
              </a:rPr>
              <a:t> hale </a:t>
            </a:r>
            <a:r>
              <a:rPr lang="en-US" dirty="0" err="1">
                <a:latin typeface="Bahnschrift Light SemiCondensed" panose="020B0502040204020203" pitchFamily="34" charset="0"/>
              </a:rPr>
              <a:t>getirilmesi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mümkün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olmaktadır</a:t>
            </a:r>
            <a:r>
              <a:rPr lang="en-US" dirty="0">
                <a:latin typeface="Bahnschrift Light SemiCondensed" panose="020B0502040204020203" pitchFamily="34" charset="0"/>
              </a:rPr>
              <a:t>.</a:t>
            </a:r>
          </a:p>
          <a:p>
            <a:r>
              <a:rPr lang="tr-TR" dirty="0" smtClean="0">
                <a:latin typeface="Bahnschrift Light SemiCondensed" panose="020B0502040204020203" pitchFamily="34" charset="0"/>
              </a:rPr>
              <a:t>  </a:t>
            </a:r>
            <a:r>
              <a:rPr lang="en-US" dirty="0" err="1" smtClean="0">
                <a:latin typeface="Bahnschrift Light SemiCondensed" panose="020B0502040204020203" pitchFamily="34" charset="0"/>
              </a:rPr>
              <a:t>Genel</a:t>
            </a:r>
            <a:r>
              <a:rPr lang="en-US" dirty="0" smtClean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olarak</a:t>
            </a:r>
            <a:r>
              <a:rPr lang="en-US" dirty="0">
                <a:latin typeface="Bahnschrift Light SemiCondensed" panose="020B0502040204020203" pitchFamily="34" charset="0"/>
              </a:rPr>
              <a:t>, BERT </a:t>
            </a:r>
            <a:r>
              <a:rPr lang="en-US" dirty="0" err="1">
                <a:latin typeface="Bahnschrift Light SemiCondensed" panose="020B0502040204020203" pitchFamily="34" charset="0"/>
              </a:rPr>
              <a:t>tabanlı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yaklaşımların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metin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sınıflandırma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problemlerinde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etkili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ve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gerçek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dünya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uygulamalarına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uygun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çözümler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sunduğu</a:t>
            </a:r>
            <a:r>
              <a:rPr lang="en-US" dirty="0">
                <a:latin typeface="Bahnschrift Light SemiCondensed" panose="020B0502040204020203" pitchFamily="34" charset="0"/>
              </a:rPr>
              <a:t> </a:t>
            </a:r>
            <a:r>
              <a:rPr lang="en-US" dirty="0" err="1">
                <a:latin typeface="Bahnschrift Light SemiCondensed" panose="020B0502040204020203" pitchFamily="34" charset="0"/>
              </a:rPr>
              <a:t>görülmüştür</a:t>
            </a:r>
            <a:r>
              <a:rPr lang="en-US" dirty="0">
                <a:latin typeface="Bahnschrift Light SemiCondensed" panose="020B0502040204020203" pitchFamily="34" charset="0"/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5219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dörtgen 1"/>
          <p:cNvSpPr/>
          <p:nvPr/>
        </p:nvSpPr>
        <p:spPr>
          <a:xfrm>
            <a:off x="911117" y="2801081"/>
            <a:ext cx="930575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tr-TR" sz="5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DİNLEDİĞİNİZ İÇİN TEŞEKKÜRLER</a:t>
            </a:r>
            <a:endParaRPr lang="tr-TR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4706787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İ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7319_TF22378848.potx" id="{FA829434-90D8-42F3-AAD8-E0ADAE141A54}" vid="{81ABD5A3-FB1B-4CAC-9DBB-9DCD23BF5CAA}"/>
    </a:ext>
  </a:extLst>
</a:theme>
</file>

<file path=ppt/theme/theme2.xml><?xml version="1.0" encoding="utf-8"?>
<a:theme xmlns:a="http://schemas.openxmlformats.org/drawingml/2006/main" name="Ofis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is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8A2F88-55C5-4ED1-9541-807C65424763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İntegral tasarımı</Template>
  <TotalTime>0</TotalTime>
  <Words>555</Words>
  <Application>Microsoft Office PowerPoint</Application>
  <PresentationFormat>Geniş ekran</PresentationFormat>
  <Paragraphs>59</Paragraphs>
  <Slides>9</Slides>
  <Notes>2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7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9</vt:i4>
      </vt:variant>
    </vt:vector>
  </HeadingPairs>
  <TitlesOfParts>
    <vt:vector size="17" baseType="lpstr">
      <vt:lpstr>Arial</vt:lpstr>
      <vt:lpstr>Bahnschrift Light SemiCondensed</vt:lpstr>
      <vt:lpstr>Bookman Old Style</vt:lpstr>
      <vt:lpstr>Calibri</vt:lpstr>
      <vt:lpstr>Cambria</vt:lpstr>
      <vt:lpstr>Tw Cen MT</vt:lpstr>
      <vt:lpstr>Wingdings 3</vt:lpstr>
      <vt:lpstr>İntegral</vt:lpstr>
      <vt:lpstr>MÜŞTERİ ŞİKAYETLERİ SINIFLANDIRMA</vt:lpstr>
      <vt:lpstr>Problem tanımı</vt:lpstr>
      <vt:lpstr>Amaç ve Kullanılan  Teknolojiler </vt:lpstr>
      <vt:lpstr>Veri seti</vt:lpstr>
      <vt:lpstr>Veri Ön İşleme ve Model Mimarisi</vt:lpstr>
      <vt:lpstr>Model Eğitimi ve Süreci </vt:lpstr>
      <vt:lpstr>Sonuçlar ve performans</vt:lpstr>
      <vt:lpstr>Genel değerlendirme ve özet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2026-04-13T22:48:14Z</dcterms:created>
  <dcterms:modified xsi:type="dcterms:W3CDTF">2026-04-14T02:20:08Z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